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0292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DF8F2"/>
                </a:solidFill>
                <a:latin typeface="Verdana"/>
              </a:rPr>
              <a:t>little-milestones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FADCC5"/>
                </a:solidFill>
                <a:latin typeface="Verdana"/>
              </a:rPr>
              <a:t>Solution Architecture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ADCC5"/>
                </a:solidFill>
                <a:latin typeface="Verdana"/>
              </a:rPr>
              <a:t>Multi-surface: FastAPI backend  ·  Next.js desktop web  ·  React Native / Expo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259"/>
                </a:solidFill>
                <a:latin typeface="Verdana"/>
              </a:rPr>
              <a:t>Generated 2026-07-28 from knowledge/ARCHITECTURE_KB.md, knowledge/SECURITY_KB.md §9 and knowledge/UX_KB.md §13.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259"/>
                </a:solidFill>
                <a:latin typeface="Verdana"/>
              </a:rPr>
              <a:t>Source-of-truth is the markdown, not this file. Nothing in the platform reads from deliverables/.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384048" y="5687568"/>
            <a:ext cx="11430000" cy="1005840"/>
          </a:xfrm>
          <a:prstGeom prst="rect">
            <a:avLst/>
          </a:prstGeom>
          <a:solidFill>
            <a:srgbClr val="EF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4315968"/>
            <a:ext cx="11430000" cy="1170432"/>
          </a:xfrm>
          <a:prstGeom prst="rect">
            <a:avLst/>
          </a:prstGeom>
          <a:solidFill>
            <a:srgbClr val="F6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2724912"/>
            <a:ext cx="11430000" cy="129844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261872"/>
            <a:ext cx="11430000" cy="1188720"/>
          </a:xfrm>
          <a:prstGeom prst="rect">
            <a:avLst/>
          </a:prstGeom>
          <a:solidFill>
            <a:srgbClr val="F6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3D3833"/>
                </a:solidFill>
                <a:latin typeface="Verdana"/>
              </a:rPr>
              <a:t>System component map and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259"/>
                </a:solidFill>
                <a:latin typeface="Verdana"/>
              </a:rPr>
              <a:t>Components from ARCHITECTURE_KB §0/§3; mobile surface and bearer transport from SECURITY_KB §9 (ARCHITECTURE_KB §0 does not yet describe the mobile client — see the gap slide).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108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E6259"/>
                </a:solidFill>
                <a:latin typeface="Verdana"/>
              </a:rPr>
              <a:t>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3108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E6259"/>
                </a:solidFill>
                <a:latin typeface="Verdana"/>
              </a:rPr>
              <a:t>API  ·  FastAPI 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34255"/>
            <a:ext cx="3108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E6259"/>
                </a:solidFill>
                <a:latin typeface="Verdana"/>
              </a:rPr>
              <a:t>DOMAIN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05855"/>
            <a:ext cx="3108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E6259"/>
                </a:solidFill>
                <a:latin typeface="Verdana"/>
              </a:rPr>
              <a:t>DATA AT REST  ·  EXTERNAL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1517904"/>
            <a:ext cx="32004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D6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3D3833"/>
                </a:solidFill>
                <a:latin typeface="Verdana"/>
              </a:rPr>
              <a:t>Next.js desktop web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:3000  ·  cookie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517904"/>
            <a:ext cx="32004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1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3D3833"/>
                </a:solidFill>
                <a:latin typeface="Verdana"/>
              </a:rPr>
              <a:t>React Native / Expo mobile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SDK 57  ·  Today · Ask · [+] · Journey · You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517904"/>
            <a:ext cx="2377440" cy="786384"/>
          </a:xfrm>
          <a:prstGeom prst="roundRect">
            <a:avLst>
              <a:gd name="adj" fmla="val 12000"/>
            </a:avLst>
          </a:prstGeom>
          <a:solidFill>
            <a:srgbClr val="FADCC5"/>
          </a:solidFill>
          <a:ln w="19050">
            <a:solidFill>
              <a:srgbClr val="8F3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D3833"/>
                </a:solidFill>
                <a:latin typeface="Verdana"/>
              </a:rPr>
              <a:t>expo-secure-store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Keychain / Keystore</a:t>
            </a:r>
            <a:br/>
            <a:r>
              <a:rPr sz="850">
                <a:solidFill>
                  <a:srgbClr val="6E6259"/>
                </a:solidFill>
                <a:latin typeface="Verdana"/>
              </a:rPr>
              <a:t>WHEN_UNLOCKED_THIS_DEVICE_ONLY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980944"/>
            <a:ext cx="32004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F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3D3833"/>
                </a:solidFill>
                <a:latin typeface="Verdana"/>
              </a:rPr>
              <a:t>auth.py  ·  _extract_raw_token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cookie read FIRST, wins on conflict;</a:t>
            </a:r>
            <a:br/>
            <a:r>
              <a:rPr sz="850">
                <a:solidFill>
                  <a:srgbClr val="6E6259"/>
                </a:solidFill>
                <a:latin typeface="Verdana"/>
              </a:rPr>
              <a:t>else Authorization: Bearer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980944"/>
            <a:ext cx="38862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D6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3D3833"/>
                </a:solidFill>
                <a:latin typeface="Verdana"/>
              </a:rPr>
              <a:t>routes/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auth · profiles · chat · memories</a:t>
            </a:r>
            <a:br/>
            <a:r>
              <a:rPr sz="850">
                <a:solidFill>
                  <a:srgbClr val="6E6259"/>
                </a:solidFill>
                <a:latin typeface="Verdana"/>
              </a:rPr>
              <a:t>photos · digest · 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980944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D6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D3833"/>
                </a:solidFill>
                <a:latin typeface="Verdana"/>
              </a:rPr>
              <a:t>sessions table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one token type, both surfaces</a:t>
            </a:r>
            <a:br/>
            <a:r>
              <a:rPr sz="850">
                <a:solidFill>
                  <a:srgbClr val="6E6259"/>
                </a:solidFill>
                <a:latin typeface="Verdana"/>
              </a:rPr>
              <a:t>sessions.client = web | mobile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7200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E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3D3833"/>
                </a:solidFill>
                <a:latin typeface="Verdana"/>
              </a:rPr>
              <a:t>ages.py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chronological +</a:t>
            </a:r>
            <a:br/>
            <a:r>
              <a:rPr sz="850">
                <a:solidFill>
                  <a:srgbClr val="6E6259"/>
                </a:solidFill>
                <a:latin typeface="Verdana"/>
              </a:rPr>
              <a:t>corrected 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457200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E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3D3833"/>
                </a:solidFill>
                <a:latin typeface="Verdana"/>
              </a:rPr>
              <a:t>prompts.py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system prompt +</a:t>
            </a:r>
            <a:br/>
            <a:r>
              <a:rPr sz="850">
                <a:solidFill>
                  <a:srgbClr val="6E6259"/>
                </a:solidFill>
                <a:latin typeface="Verdana"/>
              </a:rPr>
              <a:t>grounding block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457200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E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3D3833"/>
                </a:solidFill>
                <a:latin typeface="Verdana"/>
              </a:rPr>
              <a:t>guardrails.py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output-side</a:t>
            </a:r>
            <a:br/>
            <a:r>
              <a:rPr sz="850">
                <a:solidFill>
                  <a:srgbClr val="6E6259"/>
                </a:solidFill>
                <a:latin typeface="Verdana"/>
              </a:rPr>
              <a:t>enforcement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57200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E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3D3833"/>
                </a:solidFill>
                <a:latin typeface="Verdana"/>
              </a:rPr>
              <a:t>crypto.py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photo encrypt /</a:t>
            </a:r>
            <a:br/>
            <a:r>
              <a:rPr sz="850">
                <a:solidFill>
                  <a:srgbClr val="6E6259"/>
                </a:solidFill>
                <a:latin typeface="Verdana"/>
              </a:rPr>
              <a:t>decrypt-on-serve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457200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E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3D3833"/>
                </a:solidFill>
                <a:latin typeface="Verdana"/>
              </a:rPr>
              <a:t>scheduler.py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APScheduler</a:t>
            </a:r>
            <a:br/>
            <a:r>
              <a:rPr sz="850">
                <a:solidFill>
                  <a:srgbClr val="6E6259"/>
                </a:solidFill>
                <a:latin typeface="Verdana"/>
              </a:rPr>
              <a:t>digest job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870448"/>
            <a:ext cx="2286000" cy="658368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9050">
            <a:solidFill>
              <a:srgbClr val="3D6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3D3833"/>
                </a:solidFill>
                <a:latin typeface="Verdana"/>
              </a:rPr>
              <a:t>SQLite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little_milestones.db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870448"/>
            <a:ext cx="2286000" cy="658368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9050">
            <a:solidFill>
              <a:srgbClr val="3D6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3D3833"/>
                </a:solidFill>
                <a:latin typeface="Verdana"/>
              </a:rPr>
              <a:t>Encrypted photo files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data/photos/{profile}/{id}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5870448"/>
            <a:ext cx="2194560" cy="658368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9050">
            <a:solidFill>
              <a:srgbClr val="3D61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D3833"/>
                </a:solidFill>
                <a:latin typeface="Verdana"/>
              </a:rPr>
              <a:t>Curated JSON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CDC-2022 · activities</a:t>
            </a:r>
            <a:br/>
            <a:r>
              <a:rPr sz="850">
                <a:solidFill>
                  <a:srgbClr val="6E6259"/>
                </a:solidFill>
                <a:latin typeface="Verdana"/>
              </a:rPr>
              <a:t>products · CPSC denylist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5870448"/>
            <a:ext cx="1691640" cy="658368"/>
          </a:xfrm>
          <a:prstGeom prst="roundRect">
            <a:avLst>
              <a:gd name="adj" fmla="val 12000"/>
            </a:avLst>
          </a:prstGeom>
          <a:solidFill>
            <a:srgbClr val="FBEEE6"/>
          </a:solidFill>
          <a:ln w="19050">
            <a:solidFill>
              <a:srgbClr val="C1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3D3833"/>
                </a:solidFill>
                <a:latin typeface="Verdana"/>
              </a:rPr>
              <a:t>LLM provider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chat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870448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FBEEE6"/>
          </a:solidFill>
          <a:ln w="19050">
            <a:solidFill>
              <a:srgbClr val="C1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3D3833"/>
                </a:solidFill>
                <a:latin typeface="Verdana"/>
              </a:rPr>
              <a:t>Resend · Google Photos</a:t>
            </a:r>
          </a:p>
          <a:p>
            <a:pPr algn="ctr"/>
            <a:r>
              <a:rPr sz="850">
                <a:solidFill>
                  <a:srgbClr val="6E6259"/>
                </a:solidFill>
                <a:latin typeface="Verdana"/>
              </a:rPr>
              <a:t>email · F17 OAuth</a:t>
            </a:r>
          </a:p>
        </p:txBody>
      </p:sp>
      <p:cxnSp>
        <p:nvCxnSpPr>
          <p:cNvPr id="28" name="Connector 27"/>
          <p:cNvCxnSpPr>
            <a:stCxn id="12" idx="2"/>
            <a:endCxn id="15" idx="0"/>
          </p:cNvCxnSpPr>
          <p:nvPr/>
        </p:nvCxnSpPr>
        <p:spPr>
          <a:xfrm flipH="1">
            <a:off x="2651760" y="2304288"/>
            <a:ext cx="0" cy="676656"/>
          </a:xfrm>
          <a:prstGeom prst="line">
            <a:avLst/>
          </a:prstGeom>
          <a:ln w="22225">
            <a:solidFill>
              <a:srgbClr val="3D61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2395728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3D6188"/>
                </a:solidFill>
                <a:latin typeface="Verdana"/>
              </a:rPr>
              <a:t>HTTPS/JSON + Cookie</a:t>
            </a:r>
            <a:br/>
            <a:r>
              <a:rPr sz="750" b="1">
                <a:solidFill>
                  <a:srgbClr val="3D6188"/>
                </a:solidFill>
                <a:latin typeface="Verdana"/>
              </a:rPr>
              <a:t>HttpOnly, SameSite=Lax</a:t>
            </a:r>
          </a:p>
        </p:txBody>
      </p:sp>
      <p:cxnSp>
        <p:nvCxnSpPr>
          <p:cNvPr id="30" name="Connector 29"/>
          <p:cNvCxnSpPr>
            <a:stCxn id="13" idx="2"/>
            <a:endCxn id="15" idx="0"/>
          </p:cNvCxnSpPr>
          <p:nvPr/>
        </p:nvCxnSpPr>
        <p:spPr>
          <a:xfrm flipH="1">
            <a:off x="2651760" y="2304288"/>
            <a:ext cx="4480560" cy="676656"/>
          </a:xfrm>
          <a:prstGeom prst="line">
            <a:avLst/>
          </a:prstGeom>
          <a:ln w="22225">
            <a:solidFill>
              <a:srgbClr val="C1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60520" y="2395728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C1502A"/>
                </a:solidFill>
                <a:latin typeface="Verdana"/>
              </a:rPr>
              <a:t>HTTPS/JSON + Authorization: Bearer</a:t>
            </a:r>
            <a:br/>
            <a:r>
              <a:rPr sz="750" b="1">
                <a:solidFill>
                  <a:srgbClr val="C1502A"/>
                </a:solidFill>
                <a:latin typeface="Verdana"/>
              </a:rPr>
              <a:t>X-LM-Client: mobile</a:t>
            </a:r>
          </a:p>
        </p:txBody>
      </p:sp>
      <p:cxnSp>
        <p:nvCxnSpPr>
          <p:cNvPr id="32" name="Connector 31"/>
          <p:cNvCxnSpPr>
            <a:stCxn id="13" idx="0"/>
            <a:endCxn id="14" idx="2"/>
          </p:cNvCxnSpPr>
          <p:nvPr/>
        </p:nvCxnSpPr>
        <p:spPr>
          <a:xfrm>
            <a:off x="7132320" y="1517904"/>
            <a:ext cx="3337560" cy="786384"/>
          </a:xfrm>
          <a:prstGeom prst="line">
            <a:avLst/>
          </a:prstGeom>
          <a:ln w="22225">
            <a:solidFill>
              <a:srgbClr val="8F3A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86800" y="1316736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8F3A1D"/>
                </a:solidFill>
                <a:latin typeface="Verdana"/>
              </a:rPr>
              <a:t>token at rest</a:t>
            </a:r>
          </a:p>
        </p:txBody>
      </p:sp>
      <p:cxnSp>
        <p:nvCxnSpPr>
          <p:cNvPr id="34" name="Connector 33"/>
          <p:cNvCxnSpPr>
            <a:stCxn id="15" idx="0"/>
            <a:endCxn id="17" idx="2"/>
          </p:cNvCxnSpPr>
          <p:nvPr/>
        </p:nvCxnSpPr>
        <p:spPr>
          <a:xfrm>
            <a:off x="2651760" y="2980944"/>
            <a:ext cx="7818120" cy="841248"/>
          </a:xfrm>
          <a:prstGeom prst="line">
            <a:avLst/>
          </a:prstGeom>
          <a:ln w="22225">
            <a:solidFill>
              <a:srgbClr val="2F7A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6560" y="2395728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F7A4E"/>
                </a:solidFill>
                <a:latin typeface="Verdana"/>
              </a:rPr>
              <a:t>SHA-256 token_hash lookup</a:t>
            </a:r>
          </a:p>
        </p:txBody>
      </p:sp>
      <p:cxnSp>
        <p:nvCxnSpPr>
          <p:cNvPr id="36" name="Connector 35"/>
          <p:cNvCxnSpPr>
            <a:stCxn id="15" idx="0"/>
            <a:endCxn id="16" idx="2"/>
          </p:cNvCxnSpPr>
          <p:nvPr/>
        </p:nvCxnSpPr>
        <p:spPr>
          <a:xfrm>
            <a:off x="2651760" y="2980944"/>
            <a:ext cx="4137660" cy="841248"/>
          </a:xfrm>
          <a:prstGeom prst="line">
            <a:avLst/>
          </a:prstGeom>
          <a:ln w="22225">
            <a:solidFill>
              <a:srgbClr val="3D61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6" idx="2"/>
            <a:endCxn id="20" idx="0"/>
          </p:cNvCxnSpPr>
          <p:nvPr/>
        </p:nvCxnSpPr>
        <p:spPr>
          <a:xfrm flipH="1">
            <a:off x="6286500" y="3822192"/>
            <a:ext cx="502920" cy="749808"/>
          </a:xfrm>
          <a:prstGeom prst="line">
            <a:avLst/>
          </a:prstGeom>
          <a:ln w="22225">
            <a:solidFill>
              <a:srgbClr val="3D61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577840" y="3986784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3D6188"/>
                </a:solidFill>
                <a:latin typeface="Verdana"/>
              </a:rPr>
              <a:t>grounded, guarded responses</a:t>
            </a:r>
          </a:p>
        </p:txBody>
      </p:sp>
      <p:cxnSp>
        <p:nvCxnSpPr>
          <p:cNvPr id="39" name="Connector 38"/>
          <p:cNvCxnSpPr>
            <a:stCxn id="16" idx="2"/>
            <a:endCxn id="18" idx="0"/>
          </p:cNvCxnSpPr>
          <p:nvPr/>
        </p:nvCxnSpPr>
        <p:spPr>
          <a:xfrm flipH="1">
            <a:off x="1714500" y="3822192"/>
            <a:ext cx="5074920" cy="749808"/>
          </a:xfrm>
          <a:prstGeom prst="line">
            <a:avLst/>
          </a:prstGeom>
          <a:ln w="22225">
            <a:solidFill>
              <a:srgbClr val="3D61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17320" y="3986784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3D6188"/>
                </a:solidFill>
                <a:latin typeface="Verdana"/>
              </a:rPr>
              <a:t>DOB → age</a:t>
            </a:r>
          </a:p>
        </p:txBody>
      </p:sp>
      <p:cxnSp>
        <p:nvCxnSpPr>
          <p:cNvPr id="41" name="Connector 40"/>
          <p:cNvCxnSpPr>
            <a:stCxn id="16" idx="2"/>
            <a:endCxn id="19" idx="0"/>
          </p:cNvCxnSpPr>
          <p:nvPr/>
        </p:nvCxnSpPr>
        <p:spPr>
          <a:xfrm flipH="1">
            <a:off x="4000500" y="3822192"/>
            <a:ext cx="2788920" cy="749808"/>
          </a:xfrm>
          <a:prstGeom prst="line">
            <a:avLst/>
          </a:prstGeom>
          <a:ln w="22225">
            <a:solidFill>
              <a:srgbClr val="3D61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16" idx="2"/>
            <a:endCxn id="21" idx="0"/>
          </p:cNvCxnSpPr>
          <p:nvPr/>
        </p:nvCxnSpPr>
        <p:spPr>
          <a:xfrm>
            <a:off x="6789420" y="3822192"/>
            <a:ext cx="1783080" cy="749808"/>
          </a:xfrm>
          <a:prstGeom prst="line">
            <a:avLst/>
          </a:prstGeom>
          <a:ln w="22225">
            <a:solidFill>
              <a:srgbClr val="3D61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092440" y="3986784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3D6188"/>
                </a:solidFill>
                <a:latin typeface="Verdana"/>
              </a:rPr>
              <a:t>photo bytes</a:t>
            </a:r>
          </a:p>
        </p:txBody>
      </p:sp>
      <p:cxnSp>
        <p:nvCxnSpPr>
          <p:cNvPr id="44" name="Connector 43"/>
          <p:cNvCxnSpPr>
            <a:stCxn id="19" idx="2"/>
            <a:endCxn id="25" idx="0"/>
          </p:cNvCxnSpPr>
          <p:nvPr/>
        </p:nvCxnSpPr>
        <p:spPr>
          <a:xfrm>
            <a:off x="4000500" y="5285232"/>
            <a:ext cx="2811780" cy="585216"/>
          </a:xfrm>
          <a:prstGeom prst="line">
            <a:avLst/>
          </a:prstGeom>
          <a:ln w="22225">
            <a:solidFill>
              <a:srgbClr val="6E62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94760" y="5532120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E6259"/>
                </a:solidFill>
                <a:latin typeface="Verdana"/>
              </a:rPr>
              <a:t>curated grounding rows</a:t>
            </a:r>
          </a:p>
        </p:txBody>
      </p:sp>
      <p:cxnSp>
        <p:nvCxnSpPr>
          <p:cNvPr id="46" name="Connector 45"/>
          <p:cNvCxnSpPr>
            <a:stCxn id="18" idx="2"/>
            <a:endCxn id="23" idx="0"/>
          </p:cNvCxnSpPr>
          <p:nvPr/>
        </p:nvCxnSpPr>
        <p:spPr>
          <a:xfrm>
            <a:off x="1714500" y="5285232"/>
            <a:ext cx="114300" cy="585216"/>
          </a:xfrm>
          <a:prstGeom prst="line">
            <a:avLst/>
          </a:prstGeom>
          <a:ln w="22225">
            <a:solidFill>
              <a:srgbClr val="6E62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600200" y="5532120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E6259"/>
                </a:solidFill>
                <a:latin typeface="Verdana"/>
              </a:rPr>
              <a:t>SQL</a:t>
            </a:r>
          </a:p>
        </p:txBody>
      </p:sp>
      <p:cxnSp>
        <p:nvCxnSpPr>
          <p:cNvPr id="48" name="Connector 47"/>
          <p:cNvCxnSpPr>
            <a:stCxn id="21" idx="2"/>
            <a:endCxn id="24" idx="0"/>
          </p:cNvCxnSpPr>
          <p:nvPr/>
        </p:nvCxnSpPr>
        <p:spPr>
          <a:xfrm flipH="1">
            <a:off x="4343400" y="5285232"/>
            <a:ext cx="4229100" cy="585216"/>
          </a:xfrm>
          <a:prstGeom prst="line">
            <a:avLst/>
          </a:prstGeom>
          <a:ln w="22225">
            <a:prstDash val="dash"/>
            <a:solidFill>
              <a:srgbClr val="6E62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852160" y="5532120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E6259"/>
                </a:solidFill>
                <a:latin typeface="Verdana"/>
              </a:rPr>
              <a:t>AES at rest</a:t>
            </a:r>
          </a:p>
        </p:txBody>
      </p:sp>
      <p:cxnSp>
        <p:nvCxnSpPr>
          <p:cNvPr id="50" name="Connector 49"/>
          <p:cNvCxnSpPr>
            <a:stCxn id="20" idx="2"/>
            <a:endCxn id="26" idx="0"/>
          </p:cNvCxnSpPr>
          <p:nvPr/>
        </p:nvCxnSpPr>
        <p:spPr>
          <a:xfrm>
            <a:off x="6286500" y="5285232"/>
            <a:ext cx="2697480" cy="585216"/>
          </a:xfrm>
          <a:prstGeom prst="line">
            <a:avLst/>
          </a:prstGeom>
          <a:ln w="22225">
            <a:solidFill>
              <a:srgbClr val="C1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949440" y="5532120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C1502A"/>
                </a:solidFill>
                <a:latin typeface="Verdana"/>
              </a:rPr>
              <a:t>prompt / completion</a:t>
            </a:r>
          </a:p>
        </p:txBody>
      </p:sp>
      <p:cxnSp>
        <p:nvCxnSpPr>
          <p:cNvPr id="52" name="Connector 51"/>
          <p:cNvCxnSpPr>
            <a:stCxn id="22" idx="2"/>
            <a:endCxn id="27" idx="0"/>
          </p:cNvCxnSpPr>
          <p:nvPr/>
        </p:nvCxnSpPr>
        <p:spPr>
          <a:xfrm>
            <a:off x="10744200" y="5285232"/>
            <a:ext cx="114300" cy="585216"/>
          </a:xfrm>
          <a:prstGeom prst="line">
            <a:avLst/>
          </a:prstGeom>
          <a:ln w="22225">
            <a:solidFill>
              <a:srgbClr val="C150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241280" y="5532120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C1502A"/>
                </a:solidFill>
                <a:latin typeface="Verdana"/>
              </a:rPr>
              <a:t>HTTPS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54710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8F3A1D"/>
                </a:solidFill>
                <a:latin typeface="Verdana"/>
              </a:rPr>
              <a:t>Mobile receives its token in the X-LM-Session-Token response header and is deliberately sent NO Set-Cookie. That header must never be added to CORS expose_headers. (SECURITY_KB §9.3)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Source gap: ARCHITECTURE_KB.md does not yet cover the mobile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Flagged, not smoothed 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ARCHITECTURE_KB.md was last written 2026-07-13 and contains no occurrence of 'mobile', 'Expo', 'React Native', 'bearer' or 'X-LM-Session-Token'. Its §0 component map still lists only dev/backend + dev/frontend (Next.js).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The mobile architecture is nonetheless fully designed and recorded — just in other KBs: SECURITY_KB §9 (transport, token storage, MFA, CORS, compliance) and UX_KB §13 (navigation, screens, offline, accessibility).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This deck therefore sources the mobile surface from SECURITY_KB §9 and UX_KB §13, and labels it as such rather than presenting it as if solution-architect had documented it.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Recommended follow-up (not this agent's to make): solution-architect extends ARCHITECTURE_KB §0's component map to include dev/mobile and the bearer read path, so the architecture KB is again a complete component map of the shipped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Multi-surface product, one backend, one credential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SECURITY_KB §9.1–§9.3  ·  Architecture gate 2026-07-26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Three shipped surfaces share a single FastAPI backend: dev/backend (FastAPI, SQLite), dev/frontend (Next.js desktop web), dev/mobile (React Native + Expo SDK 57, react-native 0.86).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Auth decision (SECURITY_KB §9.1): add Authorization: Bearer as an additional accepted transport for the EXISTING session token. Same token, same sessions table, same SHA-256-at-rest hashing, same 30-day sliding / 90-day absolute expiry, same mfa_pending semantics, same revocation surface.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The cookie path is untouched and is checked FIRST, winning on conflict — this is what structurally guarantees no browser request's resolution behaviour can change.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Rejected alternatives, with reasons: RN carrying cookies manually (the platform cookie jar is unencrypted AND inside the default backup set); a separate mobile token type (forks the credential model, fragments /auth/sessions revocation); full OAuth2/PKCE (a first-party app talking to its own backend has no third party to delegate to).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sessions.client TEXT NOT NULL DEFAULT 'web' was added so F12's 'log out everywhere' screen can say which device is being revoked — usability that matters most exactly when a phone is lost.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The Authorization header value is never logged, in any form, anywhere — an extension of the standing §2.5 rule, because a bearer token in an access log is a live credential in a plaintext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Token storage on device, and why AsyncStorage is prohibited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SECURITY_KB §9.4–§9.5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Decision: expo-secure-store only, with keychainAccessible: WHEN_UNLOCKED_THIS_DEVICE_ONLY (iOS Keychain / Android Keystore).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THIS_DEVICE_ONLY is deliberate: it keeps the token out of encrypted backups and out of Keychain sync, so a restore onto a different device cannot resurrect a live session. The correct behaviour on a new device is 'log in again', not 'inherit a session'.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AsyncStorage is prohibited for the session token and this is a real vulnerability, not a style preference — it is unencrypted in the app sandbox and included in unencrypted iTunes/Finder backups and Android auto-backup by default.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The stated blast radius: a 30-day sliding session token for an account holding a named infant's DOB, prematurity status, developmental notes and photographs, sitting in cleartext in a desktop backup folder.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The token is NOT purged on background — the exposure on backgrounding is the visible child photo, addressed by the app-switcher snapshot cover, not the token.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Logout calls POST /auth/logout with the bearer header FIRST, then deletes from SecureStore unconditionally, including when the network call fails. On any 401: delete the token and route to login ONCE — never retry, never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Mobile experience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UX_KB §13.1–§13.7  ·  as-built from dev/mobile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Bottom tabs, five slots, each owning its own native stack, no drawer: Today · Ask · [+] · Journey · You. As built, the tab components are TodayScreen, AskScreen, JourneyScreen and SettingsScreen (registered under the name 'You'), with [+] rendered as a central 56pt capture action in a custom tab bar rather than a tab.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Child switching is the header chip, not a tab: selecting a child re-scopes every tab and pops each stack to root, so switching child never costs a parent their place in the app and never costs a tab slot.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Cold start: native splash performs a secure-storage token read plus GET /auth/me against a 600ms budget; if /auth/me has not resolved in 3 seconds the splash swaps to an offline shell with Retry. There is no state in which the app sits on a spinner forever.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Release-1 scope was cut by what a parent actually does on a phone, not by feature parity: Google Photos import (F17), caregiver invite creation, password reset, TOTP enrolment, push notifications and a complete offline mirror are all deferred with stated reasons.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Visual language is translated, not reinvented — every token is the rev-2 palette used verbatim; no new colour is introduced by the mobile pass.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App-switcher snapshot cover is implemented (SECURITY_KB §9.8 item 2); full screenshot blocking is deliberately NOT done, because parents legitimately screenshot a milestone for a grandparent.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0. Component map (unchanged template shape, 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All stores implement a common create/get/delete shape so the SQLite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decision (§3) is testable in isolation and swappable in principle, though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no swap is planned. **The list method's name and every method's scoping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parameter follow one rule, not one literal method name:** a store whose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entity is directly family-scoped exposes list_for_family(family_id)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and scopes every method by family_id (ProfileStore — the only store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1. R3 — milestone/activity grounding: Option A, curated CDC-2022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Decision: adopt DOMAIN_KB's contested position. app/data/milestones_cdc2022.json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is a hand-curated table (checklist buckets 2/4/6/9/12/15/18/24/30/36 months ×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domain: gross motor, fine motor, language/communication, social-emotional,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cognitive) sourced directly from the CDC/AAP February-2022 checklists, each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entry carrying {bucket_months, domain, text, source: "CDC 2022"}. 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parallel activities table (age-bucket-keyed, AAP-safety-vetted) backs F4/F9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2. Auth design (F10): baseline confirmed, refined in three 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Decision: confirm PLAN §4.6's baseline — local email+password accounts,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argon2 hashing via passlib, server-side sessions, HTTP-only SameSite=Lax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cookies, owner/caregiver roles, single-use expiring invite codes, cross-family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access returns 404. See SECURITY_KB.md's dedicated Authentication &amp;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Authorization Design section for the full reasoning, criteria, and revisit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triggers — that is security-architect's call to document, not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3. Storage backend: confirm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Decision: SQLite, single file at backend/data/little_milestones.db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(gitignored), accessed via SQLAlchemy Core or a thin query layer — code-agent's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choice between SQLAlchemy and raw sqlite3 + hand-written SQL is an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implementation detail, not an architecture decision, but either must go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through the Store[T] interfaces (§0) so route code never touches SQL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Why, beyond PLAN §3.2's own reasoning: five entity types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4. Photo color-extraction algorithm (UX_KB §6 contract)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UX_KB §6.3 specifies the visual outcome and safety contract and explicitly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delegates the extraction algorithm to Architecture. This is that design.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**Runs server-side, at upload time, once, synchronously as part of the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upload request** — never client-side (photo bytes must never leave the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server per F7's structural isolation, and "extract color client-side" would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require sending the decrypted image to the browser on every load, defeating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5. Email/notification infrastructure (F8 delivery) — REVISED, real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This section supersedes the original Architecture-gate deferral in full.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The human overrode the deferral at this gate: F8's weekly digest ships with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real email delivery this run, not opt-in machinery alone. The original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deferral's stated privacy concern — a child's name/developmental stage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leaving the machine to a third-party mail provider on an unattended,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recurring basis — was valid and is not dropped by the override; it 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6. Output-side enforcement (beyond system-prompt instructions)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System-prompt rules (PLAN §3.4) are necessary but, per DOMAIN_KB R1/R2 and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the general behavior of LLMs under adversarial or merely unlucky phrasing,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not sufficient on their own — especially once F8's digest generation runs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unattended (no parent in the loop to notice a bad response the way a chat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turn is at least read before the parent acts on it). app/guardrails.py is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 **post-generation, code-level check layered on every LLM-touching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7. Architecture test-suite ownership (Test gate, this project)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Per the Test suite ownership contract, solution-architect owns: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Contract tests: route-handler signature stability across the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Increment-1→3 auth-seam swap (§2); Store[T] interface conformance for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every entity store; photo_theme.extract_accent output always satisfies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the clamped-band contract (property-based test: for N random hues,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derived tokens fall within the specified S/L ranges) or returns None;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8. Completeness check against this gate's mandate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1. R3 grounding — resolved (§1): Option A, curated CDC-2022 table, owner +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2. Auth design — confirmed with architecture-level refinements (§2); full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authn/authz reasoning is SECURITY_KB.md's dedicated section.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3. Photo storage/encryption — storage layout decided here (§3); encryption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mechanism, key management, and compliance mapping is SECURITY_KB.md's;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isolation-from-LLM structural design confirmed (§6.3, §4.1 step 8).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9. Increment 2 architecture follow-ups (solution-architect, 2026-07-11)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code-agent flagged two open design questions in the Increment-2 implementation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summary (PROJECT_CONTEXT.md) before the Test gate runs. Both resolved here.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Neither required security-architect co-review (no auth/encryption/data-flow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surface touched) or a human gate re-approval (both are within solution-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architect's "how, not what" authority over an already-approved F6/F7/F8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design) — recorded per the re-engagement requirement regardless, since both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10. Increment 5 — chat history + dynamic suggested prompts (F13) (solution-architect, 2026-07-12)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Resolves the schema/scoping/perf questions UX_KB §9 flagged as Architecture's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to decide. Human already settled chat history's sharing model at the UX gate: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shared per-profile, same sharing model as memories/photos (not private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per-caregiver) — not re-litigated here.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No family_id column on either table — scoped transitively via `profile_id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→ family_id, the MemoryStore/PhotoStore pattern (§0), not ProfileStore`'s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11. F12 hardened auth suite — architecture confirmation (Increment 6, solution-architect, 2026-07-12)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Confirmation pass on SECURITY_KB.md §7's schema/route design, per §7.7's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joint-presentation note. Checked against this project's established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conventions: the Store[T] interface discipline (§0), the SQLite schema/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cascade conventions (§3), and the most recent precedent, chat_sessions/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chat_messages (§10.1). No scope re-litigation — SECURITY_KB §7's design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decisions stand; this is "does it fit," not "should it exist."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12. F17 — Google Photos import: architecture design (Increment 7, solution-architect, 2026-07-12)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knowledge/ARCHITECTURE_KB.md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Designed against FEATURES.md's F17 entry and UX_KB.md §12 (Experience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Design, approved as this feature's spec) in full. Checked against this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project's established conventions: Store[T] interface discipline (§0),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SQLite schema/cascade conventions (§3), the tier-1/tier-2 id convention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(§3, reconfirmed §10.1/§11.1), Fernet application-level encryption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(app/crypto.py, extracted at F12 specifically for reuse, §11.5), the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C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D3833"/>
                </a:solidFill>
                <a:latin typeface="Verdana"/>
              </a:rPr>
              <a:t>Verification across all three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F3A1D"/>
                </a:solidFill>
                <a:latin typeface="Verdana"/>
              </a:rPr>
              <a:t>Measured, not estimated — run 2026-07-28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Single entry point: dev/tests/run-all.sh all — runs backend, desktop web, mobile and all six SME suites. Executed 2026-07-28; result ALL GREEN.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backend (pytest): 294 passed across 24 files.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desktop web (vitest): 80 passed across 15 files.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mobile (tsc --noEmit + jest/RNTL): typecheck clean, 7 passed across 2 suites.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Six SME suites — functional 12, industry 16, ux 38, architecture 20, security 20, red-team 12 (118 total).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Grand total 499 executed assertions. The runner reports EMPTY (rc 3) and STATIC-ONLY (rc 4) as not-green on purpose: 'we didn't check' must never render the same as 'we checked and it was fine.'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D3833"/>
                </a:solidFill>
                <a:latin typeface="Verdana"/>
              </a:rPr>
              <a:t>•  A new RNTL native rendering backend at dev/tests/suites/harness/native.py sits alongside the Playwright web backend at harness/browser.py, so the same UX assertions can be made against a rendered native tree.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