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90" r:id="rId41"/>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ARCHITECTURE_KB — little-milestones</a:t>
            </a:r>
          </a:p>
        </p:txBody>
      </p:sp>
      <p:sp>
        <p:nvSpPr>
          <p:cNvPr id="3" name="Subtitle 2"/>
          <p:cNvSpPr>
            <a:spLocks noGrp="1"/>
          </p:cNvSpPr>
          <p:nvPr>
            <p:ph type="subTitle" idx="1"/>
          </p:nvPr>
        </p:nvSpPr>
        <p:spPr/>
        <p:txBody>
          <a:bodyPr/>
          <a:lstStyle/>
          <a:p>
            <a:pPr>
              <a:defRPr sz="1400"/>
            </a:pPr>
            <a:r>
              <a:t>Solution architecture — ARCHITECTURE_KB.md, sections 0-12</a:t>
            </a:r>
          </a:p>
          <a:p>
            <a:pPr>
              <a:defRPr sz="1400"/>
            </a:pPr>
            <a:r>
              <a:t>Maintained by solution-architect. Covers the MVP (F1-F10) plus Increment 2-7 follow-ups: F14/F15/F16 (avatars/lightbox/gallery), F13 (chat history + suggested prompts), F12 (hardened auth), and F17 (Google Photos import).</a:t>
            </a:r>
          </a:p>
          <a:p>
            <a:pPr>
              <a:defRPr sz="1400"/>
            </a:pPr>
            <a:r>
              <a:t>Generated by deliverables-agent from knowledge/ARCHITECTURE_KB.md (one-way export — this file is a terminal output, never read back by any other agent).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 Gate context and status</a:t>
            </a:r>
          </a:p>
        </p:txBody>
      </p:sp>
      <p:sp>
        <p:nvSpPr>
          <p:cNvPr id="3" name="Content Placeholder 2"/>
          <p:cNvSpPr>
            <a:spLocks noGrp="1"/>
          </p:cNvSpPr>
          <p:nvPr>
            <p:ph idx="1"/>
          </p:nvPr>
        </p:nvSpPr>
        <p:spPr/>
        <p:txBody>
          <a:bodyPr wrap="square"/>
          <a:lstStyle/>
          <a:p>
            <a:pPr lvl="1">
              <a:defRPr sz="1300"/>
            </a:pPr>
            <a:r>
              <a:t>Maintained by: solution-architect. Architecture gate, 2026-07-10, jointly presented with security-architect (SECURITY_KB.md) and responsible-ai-architect (advisory, RESPONSIBLE_AI_KB.md). Resolves the six open questions carried from PLAN.md §6, plus item 7 (output-side enforcement) raised at this gate's kickoff. Desig…</a:t>
            </a:r>
          </a:p>
          <a:p>
            <a:pPr lvl="1">
              <a:defRPr sz="1300"/>
            </a:pPr>
            <a:r>
              <a:t>Status: pending human approval. Nothing here authorizes code-agent to start Increment 1 until the human signs off at this gate.</a:t>
            </a:r>
          </a:p>
          <a:p>
            <a:pPr lvl="1">
              <a:defRPr sz="1300"/>
            </a:pPr>
            <a:r>
              <a:t>Revision, 2026-07-10 (same day, human override): §5 below was originally a deferral ("ship opt-in machinery only, no real email"). The human overrode that at this gate and requested real email delivery for F8's weekly digest. §5 is fully replaced (not appended-to) with the real-delivery design below. Everything else 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 Component map (unchanged template shape, extended)</a:t>
            </a:r>
          </a:p>
        </p:txBody>
      </p:sp>
      <p:sp>
        <p:nvSpPr>
          <p:cNvPr id="3" name="Content Placeholder 2"/>
          <p:cNvSpPr>
            <a:spLocks noGrp="1"/>
          </p:cNvSpPr>
          <p:nvPr>
            <p:ph idx="1"/>
          </p:nvPr>
        </p:nvSpPr>
        <p:spPr/>
        <p:txBody>
          <a:bodyPr wrap="square"/>
          <a:lstStyle/>
          <a:p>
            <a:pPr lvl="1">
              <a:defRPr sz="1100">
                <a:solidFill>
                  <a:srgbClr val="393939"/>
                </a:solidFill>
                <a:latin typeface="Consolas"/>
              </a:defRPr>
            </a:pPr>
            <a:r>
              <a:t>dev/backend/app/ main.py — FastAPI app assembly only (routers mounted here) llm.py — unchanged, provider switch db.py — NEW: SQLite connection/session management (§3) ages.py — NEW: pure age math (per PLAN §3.3) prompts.py — NEW: system prompt assembly (per P…</a:t>
            </a:r>
          </a:p>
          <a:p>
            <a:pPr lvl="1">
              <a:defRPr sz="1300"/>
            </a:pPr>
            <a:r>
              <a:t>All stores implement a common create/get/delete shape so the SQLite decision (§3) is testable in isolation and swappable in principle, though no swap is planned. The list method's name and every method's scoping parameter follow one rule, not one literal method name: a store whose entity is directly family-scoped expo…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R3 — milestone/activity grounding: Option A, curated CDC-2022 table</a:t>
            </a:r>
          </a:p>
        </p:txBody>
      </p:sp>
      <p:sp>
        <p:nvSpPr>
          <p:cNvPr id="3" name="Content Placeholder 2"/>
          <p:cNvSpPr>
            <a:spLocks noGrp="1"/>
          </p:cNvSpPr>
          <p:nvPr>
            <p:ph idx="1"/>
          </p:nvPr>
        </p:nvSpPr>
        <p:spPr/>
        <p:txBody>
          <a:bodyPr wrap="square"/>
          <a:lstStyle/>
          <a:p>
            <a:pPr lvl="1">
              <a:defRPr sz="1300"/>
            </a:pPr>
            <a:r>
              <a:t>Decision: adopt DOMAIN_KB's contested position. app/data/milestones_cdc2022.json is a hand-curated table (checklist buckets 2/4/6/9/12/15/18/24/30/36 months × domain: gross motor, fine motor, language/communication, social-emotional, cognitive) sourced directly from the CDC/AAP February-2022 checklists, each entry car…</a:t>
            </a:r>
          </a:p>
          <a:p>
            <a:pPr lvl="1">
              <a:defRPr sz="1300"/>
            </a:pPr>
            <a:r>
              <a:t>Why A over B, concretely:</a:t>
            </a:r>
          </a:p>
          <a:p>
            <a:pPr lvl="1">
              <a:defRPr sz="1300"/>
            </a:pPr>
            <a:r>
              <a:t>Model weights mix pre-2022 (50th-percentile) and post-2022</a:t>
            </a:r>
          </a:p>
          <a:p>
            <a:pPr lvl="1">
              <a:defRPr sz="1300"/>
            </a:pPr>
            <a:r>
              <a:t>(75th-percentile) framings indiscriminately — DOMAIN_KB R3 is not a theoretical risk, it's a training-data fact about every current frontier model. A milestone chat that occasionally cites "12 months for walking" and occasionally cites "18 months" in the same session is a correctness bug with anxiety consequences (R1)…</a:t>
            </a:r>
          </a:p>
          <a:p>
            <a:pPr lvl="1">
              <a:defRPr sz="1300"/>
            </a:pPr>
            <a:r>
              <a:t>Note the disagreement history: this is functional-agent's DOMAIN_KB</a:t>
            </a:r>
          </a:p>
          <a:p>
            <a:pPr lvl="1">
              <a:defRPr sz="1300"/>
            </a:pPr>
            <a:r>
              <a:t>position, and functional-agent is no longer on the active team (dropped after Intake per PROJECT_CONTEXT.md). solution-architect is *adopting* that recorded position at this gate on its technical merits, not rubber-stamping it — the reasoning above stands on its own.</a:t>
            </a:r>
          </a:p>
          <a:p>
            <a:pPr lvl="1">
              <a:defRPr sz="1300"/>
            </a:pPr>
            <a:r>
              <a:t>A curated table is cheap: ~10 buckets × ~5 domains × 1–2 line items is a</a:t>
            </a:r>
          </a:p>
          <a:p>
            <a:pPr lvl="1">
              <a:defRPr sz="1300"/>
            </a:pPr>
            <a:r>
              <a:t>few hundred rows, hand-checkable against the CDC source pages in an afternoon, versioned in git (it's data, not child data — it's fine in the repo, unlike backend/data/).</a:t>
            </a:r>
          </a:p>
          <a:p>
            <a:pPr lvl="1">
              <a:defRPr sz="1300"/>
            </a:pPr>
            <a:r>
              <a:t>It also directly satisfies F9's parallel need (products_catalog.json,</a:t>
            </a:r>
          </a:p>
          <a:p>
            <a:pPr lvl="1">
              <a:defRPr sz="1300"/>
            </a:pPr>
            <a:r>
              <a:t>cpsc_denylist.json already require curation) — same review discipline, same owner, addressed together (§1.1).</a:t>
            </a:r>
          </a:p>
          <a:p>
            <a:pPr lvl="1">
              <a:defRPr sz="1300"/>
            </a:pPr>
            <a:r>
              <a:t>What the LLM is still for, with A: framing, warmth, answering the parent's actual free-text question, weaving in the curated fact at the right point, handling follow-ups, and all of R2's deflection logic. The LLM never originates a milestone age or activity-safety claim; prompts.py injects the current bucket's curated…</a:t>
            </a:r>
          </a:p>
          <a:p>
            <a:pPr>
              <a:defRPr b="1" sz="1600"/>
            </a:pPr>
            <a:r>
              <a:t>1.1 Curation ownership and update cadence</a:t>
            </a:r>
          </a:p>
          <a:p>
            <a:pPr lvl="1">
              <a:defRPr sz="1300"/>
            </a:pPr>
            <a:r>
              <a:t>Three curated, safety-bearing data files exist after this gate: milestones_cdc2022.json / activities_cdc2022.json (R3), products_catalog.json (F9), cpsc_denylist.json (F9). All three share one owner and one process, decided here rather than left dangling:</a:t>
            </a:r>
          </a:p>
          <a:p>
            <a:pPr lvl="1">
              <a:defRPr sz="1300"/>
            </a:pPr>
            <a:r>
              <a:t>Owner: solution-architect, as the role that already owns the grounding</a:t>
            </a:r>
          </a:p>
          <a:p>
            <a:pPr lvl="1">
              <a:defRPr sz="1300"/>
            </a:pPr>
            <a:r>
              <a:t>design; responsible-ai-architect co-reviews any change touching milestone *framing* (not just data — e.g. if CDC revises checklists again); functional-agent (re-engaged via /consult if needed, since it's dropped from the active roster) is the natural reviewer if a substantive medical/ developmental content change is p…</a:t>
            </a:r>
          </a:p>
          <a:p>
            <a:pPr lvl="1">
              <a:defRPr sz="1300"/>
            </a:pPr>
            <a:r>
              <a:t>Update trigger, not schedule: these files are reviewed whenever (a) CDC/</a:t>
            </a:r>
          </a:p>
          <a:p>
            <a:pPr lvl="1">
              <a:defRPr sz="1300"/>
            </a:pPr>
            <a:r>
              <a:t>AAP revises the milestone checklist, (b) CPSC issues a new recall/ban relevant to the catalog's categories, or (c) a red-team/bias finding at Test flags stale or incorrect content — not on a calendar cadence, since a fixed schedule invites drift between reviews. This is recorded as a standing maintenance cost (PLAN §8…</a:t>
            </a:r>
          </a:p>
          <a:p>
            <a:pPr lvl="1">
              <a:defRPr sz="1300"/>
            </a:pPr>
            <a:r>
              <a:t>Each file carries a _meta: {source, last_reviewed, reviewed_by} block 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R3 — milestone/activity grounding: Option A, curated CDC-2022 table (cont'd 2)</a:t>
            </a:r>
          </a:p>
        </p:txBody>
      </p:sp>
      <p:sp>
        <p:nvSpPr>
          <p:cNvPr id="3" name="Content Placeholder 2"/>
          <p:cNvSpPr>
            <a:spLocks noGrp="1"/>
          </p:cNvSpPr>
          <p:nvPr>
            <p:ph idx="1"/>
          </p:nvPr>
        </p:nvSpPr>
        <p:spPr/>
        <p:txBody>
          <a:bodyPr wrap="square"/>
          <a:lstStyle/>
          <a:p>
            <a:pPr lvl="1">
              <a:defRPr sz="1300"/>
            </a:pPr>
            <a:r>
              <a:t>the top for auditability.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Auth design (F10): baseline confirmed, refined in three places</a:t>
            </a:r>
          </a:p>
        </p:txBody>
      </p:sp>
      <p:sp>
        <p:nvSpPr>
          <p:cNvPr id="3" name="Content Placeholder 2"/>
          <p:cNvSpPr>
            <a:spLocks noGrp="1"/>
          </p:cNvSpPr>
          <p:nvPr>
            <p:ph idx="1"/>
          </p:nvPr>
        </p:nvSpPr>
        <p:spPr/>
        <p:txBody>
          <a:bodyPr wrap="square"/>
          <a:lstStyle/>
          <a:p>
            <a:pPr lvl="1">
              <a:defRPr sz="1300"/>
            </a:pPr>
            <a:r>
              <a:t>Decision: confirm PLAN §4.6's baseline — local email+password accounts, argon2 hashing via passlib, server-side sessions, HTTP-only SameSite=Lax cookies, owner/caregiver roles, single-use expiring invite codes, cross-family access returns 404. See SECURITY_KB.md's dedicated Authentication &amp; Authorization Design sectio…</a:t>
            </a:r>
          </a:p>
          <a:p>
            <a:pPr lvl="1">
              <a:defRPr sz="1300"/>
            </a:pPr>
            <a:r>
              <a:t>The Increment-1 seam holds exactly as PLAN §4.1 describes:</a:t>
            </a:r>
          </a:p>
          <a:p>
            <a:pPr lvl="1">
              <a:defRPr sz="1300"/>
            </a:pPr>
            <a:r>
              <a:t>get_current_family: Family = Depends(get_current_family) is present on every route from Increment 1. Its Increment-1 body returns a single hardcoded default Family row (created by a startup migration, id fixed, e.g. family_id=1). Increment 3 replaces the function body only — no route signature changes. This is verifie…</a:t>
            </a:r>
          </a:p>
          <a:p>
            <a:pPr lvl="1">
              <a:defRPr sz="1300"/>
            </a:pPr>
            <a:r>
              <a:t>Session storage: a sessions table in the same SQLite DB (§3), not an</a:t>
            </a:r>
          </a:p>
          <a:p>
            <a:pPr lvl="1">
              <a:defRPr sz="1300"/>
            </a:pPr>
            <a:r>
              <a:t>external store (Redis, etc.) — this is a local, single-process app; adding an external session store would be complexity with no corresponding benefit at this scale. Session row: {token_hash, user_id, created_at, expires_at}. The cookie carries an opaque token; only its hash is stored (mirrors password-hash discipline…</a:t>
            </a:r>
          </a:p>
          <a:p>
            <a:pPr lvl="1">
              <a:defRPr sz="1300"/>
            </a:pPr>
            <a:r>
              <a:t>Pre-auth data migration (F1–F9 built before F10 activates): a</a:t>
            </a:r>
          </a:p>
          <a:p>
            <a:pPr lvl="1">
              <a:defRPr sz="1300"/>
            </a:pPr>
            <a:r>
              <a:t>Family(id=1) row and all pre-existing profiles/memories/photos already carry family_id=1 from Increment 1 onward (they were never actually family-less — the seam means there is no "migration" in the schema sense, just an ownership assignment when the first real signup occurs: that signup's resulting User.family_id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Storage backend: confirm SQLite</a:t>
            </a:r>
          </a:p>
        </p:txBody>
      </p:sp>
      <p:sp>
        <p:nvSpPr>
          <p:cNvPr id="3" name="Content Placeholder 2"/>
          <p:cNvSpPr>
            <a:spLocks noGrp="1"/>
          </p:cNvSpPr>
          <p:nvPr>
            <p:ph idx="1"/>
          </p:nvPr>
        </p:nvSpPr>
        <p:spPr/>
        <p:txBody>
          <a:bodyPr wrap="square"/>
          <a:lstStyle/>
          <a:p>
            <a:pPr lvl="1">
              <a:defRPr sz="1300"/>
            </a:pPr>
            <a:r>
              <a:t>Decision: SQLite, single file at backend/data/little_milestones.db (gitignored), accessed via SQLAlchemy Core or a thin query layer — code-agent's choice between SQLAlchemy and raw sqlite3 + hand-written SQL is an implementation detail, not an architecture decision, but either must go through the Store[T] interfaces (…</a:t>
            </a:r>
          </a:p>
          <a:p>
            <a:pPr lvl="1">
              <a:defRPr sz="1300"/>
            </a:pPr>
            <a:r>
              <a:t>Why, beyond PLAN §3.2's own reasoning: five entity types (families, users, profiles, memories, photo_meta, invites, digest_subscriptions — seven, actually, once auth and digest are counted) with real foreign-key cascade requirements (family delete → cascades everything; profile delete → cascades memories → cascades ph…</a:t>
            </a:r>
          </a:p>
          <a:p>
            <a:pPr lvl="1">
              <a:defRPr sz="1300"/>
            </a:pPr>
            <a:r>
              <a:t>families(id)</a:t>
            </a:r>
          </a:p>
          <a:p>
            <a:pPr lvl="1">
              <a:defRPr sz="1300"/>
            </a:pPr>
            <a:r>
              <a:t>users(id, email UNIQUE, password_hash, family_id FK→families, role, digest_opt_in)</a:t>
            </a:r>
          </a:p>
          <a:p>
            <a:pPr lvl="1">
              <a:defRPr sz="1300"/>
            </a:pPr>
            <a:r>
              <a:t>sessions(token_hash, user_id FK→users, expires_at)</a:t>
            </a:r>
          </a:p>
          <a:p>
            <a:pPr lvl="1">
              <a:defRPr sz="1300"/>
            </a:pPr>
            <a:r>
              <a:t>profiles(id, family_id FK→families ON DELETE CASCADE, display_name, dob, born_early, weeks_early)</a:t>
            </a:r>
          </a:p>
          <a:p>
            <a:pPr lvl="1">
              <a:defRPr sz="1300"/>
            </a:pPr>
            <a:r>
              <a:t>memories(id, profile_id FK→profiles ON DELETE CASCADE, moment_date, title, note, milestone_tag)</a:t>
            </a:r>
          </a:p>
          <a:p>
            <a:pPr lvl="1">
              <a:defRPr sz="1300"/>
            </a:pPr>
            <a:r>
              <a:t>photo_meta(id, memory_id FK→memories ON DELETE CASCADE, profile_id, content_type, size, created_at, enc_iv) —</a:t>
            </a:r>
          </a:p>
          <a:p>
            <a:pPr lvl="1">
              <a:defRPr sz="1300"/>
            </a:pPr>
            <a:r>
              <a:t>note: enc_iv (or equivalent) lives here, never the key (SECURITY_KB owns key handling). id is TEXT/uuid4, not an autoincrementing int like every other table's id above — it also names the on-disk photo file (backend/data/photos/{profile_id}/{id}), so it needs to be non-enumerable, the same reasoning already applied to…</a:t>
            </a:r>
          </a:p>
          <a:p>
            <a:pPr lvl="1">
              <a:defRPr sz="1300"/>
            </a:pPr>
            <a:r>
              <a:t>invites(code, family_id FK→families, expires_at, single_use, used_at)</a:t>
            </a:r>
          </a:p>
          <a:p>
            <a:pPr lvl="1">
              <a:defRPr sz="1300"/>
            </a:pPr>
            <a:r>
              <a:t>Note (added by §5's revision, does not alter anything above): §5.4 below adds three columns to users (unsubscribe_token_hash, last_digest_sent_at) and documents them there rather than duplicating this table here, to keep this section's diff-free from the original gate.</a:t>
            </a:r>
          </a:p>
          <a:p>
            <a:pPr lvl="1">
              <a:defRPr sz="1300"/>
            </a:pPr>
            <a:r>
              <a:t>Photo bytes stay on the filesystem, not in SQLite (confirms PLAN §4.3): photo_meta rows point to backend/data/photos/{profile_id}/{photo_id}.enc by convention (id-derived path, not a stored path string, to avoid path- injection surface). This keeps the DB file small, keeps hard-delete literal (unlink the file, then de…</a:t>
            </a:r>
          </a:p>
          <a:p>
            <a:pPr lvl="1">
              <a:defRPr sz="1300"/>
            </a:pPr>
            <a:r>
              <a:t>Migration: a single schema.sql (or Alembic if code-agent prefers — implementation choice) applied idempotently at startup. No production data exists yet, so no data-migration tooling is warranted beyond "create tables if absent."</a:t>
            </a:r>
          </a:p>
          <a:p>
            <a:pPr lvl="1">
              <a:defRPr sz="1300"/>
            </a:pPr>
            <a:r>
              <a:t>Backups: confirms PLAN §4.6's proposal — no automatic backups of the DB file or photo directory. A backup is a second copy of child data, which is a liability under the retention/delete promise (INDUSTRY_KB §2.1: a photo "deleted" from the app but sitting in a backup contradicts the "immediately and permanently" UI 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Photo color-extraction algorithm (UX_KB §6 contract)</a:t>
            </a:r>
          </a:p>
        </p:txBody>
      </p:sp>
      <p:sp>
        <p:nvSpPr>
          <p:cNvPr id="3" name="Content Placeholder 2"/>
          <p:cNvSpPr>
            <a:spLocks noGrp="1"/>
          </p:cNvSpPr>
          <p:nvPr>
            <p:ph idx="1"/>
          </p:nvPr>
        </p:nvSpPr>
        <p:spPr/>
        <p:txBody>
          <a:bodyPr wrap="square"/>
          <a:lstStyle/>
          <a:p>
            <a:pPr lvl="1">
              <a:defRPr sz="1300"/>
            </a:pPr>
            <a:r>
              <a:t>UX_KB §6.3 specifies the *visual outcome and safety contract* and explicitly delegates the extraction algorithm to Architecture. This is that design. Runs server-side, at upload time, once, synchronously as part of the upload request — never client-side (photo bytes must never leave the server per F7's structural isol…</a:t>
            </a:r>
          </a:p>
          <a:p>
            <a:pPr>
              <a:defRPr b="1" sz="1600"/>
            </a:pPr>
            <a:r>
              <a:t>4.1 Pipeline</a:t>
            </a:r>
          </a:p>
          <a:p>
            <a:pPr lvl="1">
              <a:defRPr sz="1300"/>
            </a:pPr>
            <a:r>
              <a:t>On POST /profiles/{id}/photos, after content-sniffing/validation and</a:t>
            </a:r>
          </a:p>
          <a:p>
            <a:pPr lvl="1">
              <a:defRPr sz="1300"/>
            </a:pPr>
            <a:r>
              <a:t>before encryption-at-rest, the raw image bytes pass through app/photo_theme.py::extract_accent(image_bytes) -&gt; AccentTokens.</a:t>
            </a:r>
          </a:p>
          <a:p>
            <a:pPr lvl="1">
              <a:defRPr sz="1300"/>
            </a:pPr>
            <a:r>
              <a:t>Downsample first (e.g. to a 64×64 or 100×100 thumbnail in memory,</a:t>
            </a:r>
          </a:p>
          <a:p>
            <a:pPr lvl="1">
              <a:defRPr sz="1300"/>
            </a:pPr>
            <a:r>
              <a:t>Pillow Image.thumbnail) — extraction never needs full resolution, and downsampling is also a cheap, incidental privacy improvement (less detail in the working buffer, though this is not a substitute for the encryption/ isolation controls, which remain the real guarantee).</a:t>
            </a:r>
          </a:p>
          <a:p>
            <a:pPr lvl="1">
              <a:defRPr sz="1300"/>
            </a:pPr>
            <a:r>
              <a:t>Quantize to a reduced palette using median-cut or k-means (k=5) over</a:t>
            </a:r>
          </a:p>
          <a:p>
            <a:pPr lvl="1">
              <a:defRPr sz="1300"/>
            </a:pPr>
            <a:r>
              <a:t>the downsampled pixels in RGB space (Pillow's built-in Image.quantize(colors=5, method=Image.MEDIANCUT) is sufficient — no new heavy dependency needed; Pillow is already implied by any image-handling in F7).</a:t>
            </a:r>
          </a:p>
          <a:p>
            <a:pPr lvl="1">
              <a:defRPr sz="1300"/>
            </a:pPr>
            <a:r>
              <a:t>Filter candidate clusters before ranking, per UX_KB §6.3 rule 1</a:t>
            </a:r>
          </a:p>
          <a:p>
            <a:pPr lvl="1">
              <a:defRPr sz="1300"/>
            </a:pPr>
            <a:r>
              <a:t>("most prominent non-skin-tone, non-neutral color"):</a:t>
            </a:r>
          </a:p>
          <a:p>
            <a:pPr lvl="1">
              <a:defRPr sz="1300"/>
            </a:pPr>
            <a:r>
              <a:t>Convert each cluster's centroid to HSL.</a:t>
            </a:r>
          </a:p>
          <a:p>
            <a:pPr lvl="1">
              <a:defRPr sz="1300"/>
            </a:pPr>
            <a:r>
              <a:t>Drop clusters with saturation &lt; 15% (near-gray/near-white/near-black —</a:t>
            </a:r>
          </a:p>
          <a:p>
            <a:pPr lvl="1">
              <a:defRPr sz="1300"/>
            </a:pPr>
            <a:r>
              <a:t>"no color," matches UX_KB's rejection of whole-image averaging).</a:t>
            </a:r>
          </a:p>
          <a:p>
            <a:pPr lvl="1">
              <a:defRPr sz="1300"/>
            </a:pPr>
            <a:r>
              <a:t>Drop clusters whose HSL falls inside a fixed **skin-tone exclusion</a:t>
            </a:r>
          </a:p>
          <a:p>
            <a:pPr lvl="1">
              <a:defRPr sz="1300"/>
            </a:pPr>
            <a:r>
              <a:t>band** (hue 5°–35°, saturation 20–60%, lightness 40–85% — a generous band covering the common range of photographed skin tones across lighting conditions; approximate by design, erring toward over-excluding rather than risking a face-adjacent hue becoming "the theme," which would be an odd personalization outcome even…</a:t>
            </a:r>
          </a:p>
          <a:p>
            <a:pPr lvl="1">
              <a:defRPr sz="1300"/>
            </a:pPr>
            <a:r>
              <a:t>Rank remaining clusters by pixel-count (dominance) and pick the</a:t>
            </a:r>
          </a:p>
          <a:p>
            <a:pPr lvl="1">
              <a:defRPr sz="1300"/>
            </a:pPr>
            <a:r>
              <a:t>top one as the extraction target hue. If every cluster is filtered out (e.g. a genuinely monochrome or all-skin-tone photo), extraction returns None and the caller falls back to the default theme (§6.4's "complete theme, not placeholder" — this is the code path that realizes it).</a:t>
            </a:r>
          </a:p>
          <a:p>
            <a:pPr lvl="1">
              <a:defRPr sz="1300"/>
            </a:pPr>
            <a:r>
              <a:t>Clamp to the three safe bands exactly as UX_KB §6.3.2 specifies, 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Photo color-extraction algorithm (UX_KB §6 contract) (cont'd 2)</a:t>
            </a:r>
          </a:p>
        </p:txBody>
      </p:sp>
      <p:sp>
        <p:nvSpPr>
          <p:cNvPr id="3" name="Content Placeholder 2"/>
          <p:cNvSpPr>
            <a:spLocks noGrp="1"/>
          </p:cNvSpPr>
          <p:nvPr>
            <p:ph idx="1"/>
          </p:nvPr>
        </p:nvSpPr>
        <p:spPr/>
        <p:txBody>
          <a:bodyPr wrap="square"/>
          <a:lstStyle/>
          <a:p>
            <a:pPr lvl="1">
              <a:defRPr sz="1300"/>
            </a:pPr>
            <a:r>
              <a:t>HSL, deriving all three from the single extracted hue:</a:t>
            </a:r>
          </a:p>
          <a:p>
            <a:pPr lvl="1">
              <a:defRPr sz="1300"/>
            </a:pPr>
            <a:r>
              <a:t>--lm-photo-mid: S 30–55%, L 45–60%</a:t>
            </a:r>
          </a:p>
          <a:p>
            <a:pPr lvl="1">
              <a:defRPr sz="1300"/>
            </a:pPr>
            <a:r>
              <a:t>--lm-photo-deep: S 35–60%, L 22–32%</a:t>
            </a:r>
          </a:p>
          <a:p>
            <a:pPr lvl="1">
              <a:defRPr sz="1300"/>
            </a:pPr>
            <a:r>
              <a:t>--lm-photo-tint: S 18–28%, L 90–94%</a:t>
            </a:r>
          </a:p>
          <a:p>
            <a:pPr lvl="1">
              <a:defRPr sz="1300"/>
            </a:pPr>
            <a:r>
              <a:t>Hue-exclusion rotation: if the extracted hue is within ±20° of</a:t>
            </a:r>
          </a:p>
          <a:p>
            <a:pPr lvl="1">
              <a:defRPr sz="1300"/>
            </a:pPr>
            <a:r>
              <a:t>--lm-danger's hue (compute once at build time from the fixed hex, store as a constant), rotate all three derived tokens' hue by +40° before returning.</a:t>
            </a:r>
          </a:p>
          <a:p>
            <a:pPr lvl="1">
              <a:defRPr sz="1300"/>
            </a:pPr>
            <a:r>
              <a:t>Automated contrast pre-check (UX_KB §6.3 rule 4): render the two</a:t>
            </a:r>
          </a:p>
          <a:p>
            <a:pPr lvl="1">
              <a:defRPr sz="1300"/>
            </a:pPr>
            <a:r>
              <a:t>contract cases — white text over --lm-photo-deep with the fixed scrim gradient composited, and --lm-ink over --lm-photo-tint — compute WCAG contrast ratio (standard relative-luminance formula) for each. If either falls below its threshold (4.5:1 body / 3:1 large text, matching UX_KB), extract_accent returns None for t…</a:t>
            </a:r>
          </a:p>
          <a:p>
            <a:pPr lvl="1">
              <a:defRPr sz="1300"/>
            </a:pPr>
            <a:r>
              <a:t>Store the three resulting hex values (or nulls) in profiles (new</a:t>
            </a:r>
          </a:p>
          <a:p>
            <a:pPr lvl="1">
              <a:defRPr sz="1300"/>
            </a:pPr>
            <a:r>
              <a:t>columns photo_accent_mid, photo_accent_deep, photo_accent_tint) — not the photo-derived intermediate data, and definitely not raw pixel data beyond the transient in-memory processing of step 2–4. Nothing from this pipeline ever reaches prompts.py/llm.py (same structural isolation as the rest of F7 — photo_theme.py has…</a:t>
            </a:r>
          </a:p>
          <a:p>
            <a:pPr>
              <a:defRPr b="1" sz="1600"/>
            </a:pPr>
            <a:r>
              <a:t>4.2 Why this satisfies "runs server-side... not client-side"</a:t>
            </a:r>
          </a:p>
          <a:p>
            <a:pPr lvl="1">
              <a:defRPr sz="1300"/>
            </a:pPr>
            <a:r>
              <a:t>The only network trip is the original upload; the three derived hex strings (a handful of bytes) are the only photo-derived data that ever reaches the frontend for theming purposes — the browser never receives pixel data for extraction. This also means re-computation on photo replace/delete is trivial: delete clears t…</a:t>
            </a:r>
          </a:p>
          <a:p>
            <a:pPr lvl="1">
              <a:defRPr sz="1300"/>
            </a:pPr>
            <a:r>
              <a:t>Note on multi-photo theme-source tracking (added 2026-07-11 — see §9.2): this section, as originally written, describes a single-photo mental model ("delete clears the three columns... replace re-runs the pipeline") and does not specify how a profile with *multiple* photos should track which one is currently powering…</a:t>
            </a:r>
          </a:p>
          <a:p>
            <a:pPr>
              <a:defRPr b="1" sz="1600"/>
            </a:pPr>
            <a:r>
              <a:t>4.3 Library choice</a:t>
            </a:r>
          </a:p>
          <a:p>
            <a:pPr lvl="1">
              <a:defRPr sz="1300"/>
            </a:pPr>
            <a:r>
              <a:t>Pillow (already a near-certain dependency for content-sniffing/EXIF-strip in F7) is sufficient for steps 2–4 — no new heavy dependency (no OpenCV, no ML model) is justified for a decorative accent-color feature. This keeps the "why clamping alone is not sufficient" honesty from UX_KB (a simple k-means/ median-cut extr…</a:t>
            </a:r>
          </a:p>
          <a:p>
            <a:pPr lvl="1">
              <a:defRPr sz="1300"/>
            </a:pPr>
            <a:r>
              <a:t>Update, 2026-07-11 — HEIC support (see §9.1): this section's "Pillow alone is sufficient" claim is qualified by §9.1 — it is sufficient for the JPEG/PNG/WebP formats Pillow decodes natively, but not for HEIC without the pillow-heif plugin. §9.1 records the decision to add that plugin.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a:t>
            </a:r>
          </a:p>
        </p:txBody>
      </p:sp>
      <p:sp>
        <p:nvSpPr>
          <p:cNvPr id="3" name="Content Placeholder 2"/>
          <p:cNvSpPr>
            <a:spLocks noGrp="1"/>
          </p:cNvSpPr>
          <p:nvPr>
            <p:ph idx="1"/>
          </p:nvPr>
        </p:nvSpPr>
        <p:spPr/>
        <p:txBody>
          <a:bodyPr wrap="square"/>
          <a:lstStyle/>
          <a:p>
            <a:pPr lvl="1">
              <a:defRPr sz="1300"/>
            </a:pPr>
            <a:r>
              <a:t>This section supersedes the original Architecture-gate deferral in full. The human overrode the deferral at this gate: F8's weekly digest ships with real email delivery this run, not opt-in machinery alone. The original deferral's stated privacy concern — a child's name/developmental stage leaving the machine to a thi…</a:t>
            </a:r>
          </a:p>
          <a:p>
            <a:pPr>
              <a:defRPr b="1" sz="1600"/>
            </a:pPr>
            <a:r>
              <a:t>5.0 What ships</a:t>
            </a:r>
          </a:p>
          <a:p>
            <a:pPr lvl="1">
              <a:defRPr sz="1300"/>
            </a:pPr>
            <a:r>
              <a:t>GET /profiles/{id}/digest (in-app content, unchanged from the original</a:t>
            </a:r>
          </a:p>
          <a:p>
            <a:pPr lvl="1">
              <a:defRPr sz="1300"/>
            </a:pPr>
            <a:r>
              <a:t>design — still the source of truth for digest *content*).</a:t>
            </a:r>
          </a:p>
          <a:p>
            <a:pPr lvl="1">
              <a:defRPr sz="1300"/>
            </a:pPr>
            <a:r>
              <a:t>Real outbound email, sent on a recurring schedule, to caregivers with</a:t>
            </a:r>
          </a:p>
          <a:p>
            <a:pPr lvl="1">
              <a:defRPr sz="1300"/>
            </a:pPr>
            <a:r>
              <a:t>digest_opt_in=true, via a transactional email provider (§5.1) triggered by an in-process scheduler (§5.3).</a:t>
            </a:r>
          </a:p>
          <a:p>
            <a:pPr lvl="1">
              <a:defRPr sz="1300"/>
            </a:pPr>
            <a:r>
              <a:t>A working, real, one-click unsubscribe path independent of the in-app</a:t>
            </a:r>
          </a:p>
          <a:p>
            <a:pPr lvl="1">
              <a:defRPr sz="1300"/>
            </a:pPr>
            <a:r>
              <a:t>opt-in toggle (§5.5) — required both because a toggle buried in Settings is not a functioning opt-out once mail is actually landing in someone's inbox, and because it is close to a legal expectation for any recurring commercial-adjacent email in the US (§5.6).</a:t>
            </a:r>
          </a:p>
          <a:p>
            <a:pPr>
              <a:defRPr b="1" sz="1600"/>
            </a:pPr>
            <a:r>
              <a:t>5.1 Provider choice: Resend</a:t>
            </a:r>
          </a:p>
          <a:p>
            <a:pPr lvl="1">
              <a:defRPr sz="1300"/>
            </a:pPr>
            <a:r>
              <a:t>Decision: Resend, over Postmark, SES, or raw SMTP.</a:t>
            </a:r>
          </a:p>
          <a:p>
            <a:pPr lvl="1">
              <a:defRPr sz="1300"/>
            </a:pPr>
            <a:r>
              <a:t>Free tier fits this project's actual scale. Resend's free tier (3,000</a:t>
            </a:r>
          </a:p>
          <a:p>
            <a:pPr lvl="1">
              <a:defRPr sz="1300"/>
            </a:pPr>
            <a:r>
              <a:t>emails/month, 100/day) comfortably covers a small number of families each receiving at most one email per week — this is not a bulk-sending product, and no paid tier is warranted at this scale.</a:t>
            </a:r>
          </a:p>
          <a:p>
            <a:pPr lvl="1">
              <a:defRPr sz="1300"/>
            </a:pPr>
            <a:r>
              <a:t>API surface is minimal — a single authenticated POST with</a:t>
            </a:r>
          </a:p>
          <a:p>
            <a:pPr lvl="1">
              <a:defRPr sz="1300"/>
            </a:pPr>
            <a:r>
              <a:t>{from, to, subject, html, headers} — matching this project's "no new operational surface" instinct (same reasoning §3 already applies to SQLite-over-Postgres, applied here to email-over-SMTP). Raw SMTP is rejected for the same reason PLAN's original fallback rejected it: credential handling and deliverability (SPF/DKI…</a:t>
            </a:r>
          </a:p>
          <a:p>
            <a:pPr lvl="1">
              <a:defRPr sz="1300"/>
            </a:pPr>
            <a:r>
              <a:t>Deliverability-relevant headers are first-class, not bolted on: Resend</a:t>
            </a:r>
          </a:p>
          <a:p>
            <a:pPr lvl="1">
              <a:defRPr sz="1300"/>
            </a:pPr>
            <a:r>
              <a:t>supports arbitrary custom headers, which §5.5 depends on for List-Unsubscribe/List-Unsubscribe-Post (RFC 8058 one-click headers, now effectively required by Gmail/Yahoo's 2024+ bulk-sender rules for any sender doing recurring automated mail — directly relevant here even at small volume, because the *behavior* (a sched…</a:t>
            </a:r>
          </a:p>
          <a:p>
            <a:pPr lvl="1">
              <a:defRPr sz="1300"/>
            </a:pPr>
            <a:r>
              <a:t>Postmark was the documented fallback's other option; Resend is chosen</a:t>
            </a:r>
          </a:p>
          <a:p>
            <a:pPr lvl="1">
              <a:defRPr sz="1300"/>
            </a:pPr>
            <a:r>
              <a:t>over it on convenience (simpler onboarding, no separate "transactional stream" concept to configure) with no meaningful capability gap for this project's needs — this is a close call between two reasonable options, not a strong technical differentiator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2)</a:t>
            </a:r>
          </a:p>
        </p:txBody>
      </p:sp>
      <p:sp>
        <p:nvSpPr>
          <p:cNvPr id="3" name="Content Placeholder 2"/>
          <p:cNvSpPr>
            <a:spLocks noGrp="1"/>
          </p:cNvSpPr>
          <p:nvPr>
            <p:ph idx="1"/>
          </p:nvPr>
        </p:nvSpPr>
        <p:spPr/>
        <p:txBody>
          <a:bodyPr wrap="square"/>
          <a:lstStyle/>
          <a:p>
            <a:pPr lvl="1">
              <a:defRPr sz="1300"/>
            </a:pPr>
            <a:r>
              <a:t>Operational precondition, stated explicitly: sending from a shared</a:t>
            </a:r>
          </a:p>
          <a:p>
            <a:pPr lvl="1">
              <a:defRPr sz="1300"/>
            </a:pPr>
            <a:r>
              <a:t>testing domain (e.g. onboarding@resend.dev) restricts delivery to verified addresses only during development; a real send to arbitrary caregiver inboxes requires verifying a domain (SPF/DKIM records) with Resend before Increment-3-equivalent production use. This is a deployment step, not a code-agent task, and is flag…</a:t>
            </a:r>
          </a:p>
          <a:p>
            <a:pPr>
              <a:defRPr b="1" sz="1600"/>
            </a:pPr>
            <a:r>
              <a:t>5.2 Sending mechanism: app/email_delivery.py</a:t>
            </a:r>
          </a:p>
          <a:p>
            <a:pPr lvl="1">
              <a:defRPr sz="1300"/>
            </a:pPr>
            <a:r>
              <a:t>A thin wrapper, not a general email framework:</a:t>
            </a:r>
          </a:p>
          <a:p>
            <a:pPr lvl="1">
              <a:defRPr sz="1100">
                <a:solidFill>
                  <a:srgbClr val="393939"/>
                </a:solidFill>
                <a:latin typeface="Consolas"/>
              </a:defRPr>
            </a:pPr>
            <a:r>
              <a:t>def send_digest_notification(to_email: str, unsubscribe_url: str) -&gt; None</a:t>
            </a:r>
          </a:p>
          <a:p>
            <a:pPr lvl="1">
              <a:defRPr sz="1300"/>
            </a:pPr>
            <a:r>
              <a:t>Calls Resend's REST API with RESEND_API_KEY (§5.4).</a:t>
            </a:r>
          </a:p>
          <a:p>
            <a:pPr lvl="1">
              <a:defRPr sz="1300"/>
            </a:pPr>
            <a:r>
              <a:t>Builds the fixed notification template (§5.1's content design) — no</a:t>
            </a:r>
          </a:p>
          <a:p>
            <a:pPr lvl="1">
              <a:defRPr sz="1300"/>
            </a:pPr>
            <a:r>
              <a:t>per-recipient templating beyond the unsubscribe URL and (optionally) a neutral family-nickname if the family has set one, never the child's real name (§5.1... see §5.1 content rule below, this function only assembles what §5.1-content already decided).</a:t>
            </a:r>
          </a:p>
          <a:p>
            <a:pPr lvl="1">
              <a:defRPr sz="1300"/>
            </a:pPr>
            <a:r>
              <a:t>Sets List-Unsubscribe: &lt;{unsubscribe_url}&gt; and</a:t>
            </a:r>
          </a:p>
          <a:p>
            <a:pPr lvl="1">
              <a:defRPr sz="1300"/>
            </a:pPr>
            <a:r>
              <a:t>List-Unsubscribe-Post: List-Unsubscribe=One-Click headers.</a:t>
            </a:r>
          </a:p>
          <a:p>
            <a:pPr lvl="1">
              <a:defRPr sz="1300"/>
            </a:pPr>
            <a:r>
              <a:t>Raises on non-2xx; caller (§5.3) catches per-recipient so one failure</a:t>
            </a:r>
          </a:p>
          <a:p>
            <a:pPr lvl="1">
              <a:defRPr sz="1300"/>
            </a:pPr>
            <a:r>
              <a:t>doesn't block the batch.</a:t>
            </a:r>
          </a:p>
          <a:p>
            <a:pPr lvl="1">
              <a:defRPr sz="1300"/>
            </a:pPr>
            <a:r>
              <a:t>No retry logic in this function — retry policy lives in the scheduler</a:t>
            </a:r>
          </a:p>
          <a:p>
            <a:pPr lvl="1">
              <a:defRPr sz="1300"/>
            </a:pPr>
            <a:r>
              <a:t>job (§5.3), kept out of the delivery wrapper so the wrapper stays a pure "send one email" primitive, testable in isolation (contract test at Test gate: mock the Resend HTTP call, assert headers/body shape).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3)</a:t>
            </a:r>
          </a:p>
        </p:txBody>
      </p:sp>
      <p:sp>
        <p:nvSpPr>
          <p:cNvPr id="3" name="Content Placeholder 2"/>
          <p:cNvSpPr>
            <a:spLocks noGrp="1"/>
          </p:cNvSpPr>
          <p:nvPr>
            <p:ph idx="1"/>
          </p:nvPr>
        </p:nvSpPr>
        <p:spPr/>
        <p:txBody>
          <a:bodyPr wrap="square"/>
          <a:lstStyle/>
          <a:p>
            <a:pPr>
              <a:defRPr b="1" sz="1600"/>
            </a:pPr>
            <a:r>
              <a:t>5.3 Scheduling mechanism: in-process APScheduler — confirms the documented fallback</a:t>
            </a:r>
          </a:p>
          <a:p>
            <a:pPr lvl="1">
              <a:defRPr sz="1300"/>
            </a:pPr>
            <a:r>
              <a:t>Confirmed as designed (the original deferral's fallback is adopted as-is, not revised): app/scheduler.py initializes an APScheduler BackgroundScheduler at FastAPI startup (via the app's lifespan/startup hook), registering one daily job (not per-user, not a separate cron process) that:</a:t>
            </a:r>
          </a:p>
          <a:p>
            <a:pPr lvl="1">
              <a:defRPr sz="1300"/>
            </a:pPr>
            <a:r>
              <a:t>Runs once per day at a fixed local time (e.g. 08:00 server time — a</a:t>
            </a:r>
          </a:p>
          <a:p>
            <a:pPr lvl="1">
              <a:defRPr sz="1300"/>
            </a:pPr>
            <a:r>
              <a:t>config constant, not user-configurable this run; per-user send-time preference is out of scope).</a:t>
            </a:r>
          </a:p>
          <a:p>
            <a:pPr lvl="1">
              <a:defRPr sz="1300"/>
            </a:pPr>
            <a:r>
              <a:t>Queries users where digest_opt_in=true and</a:t>
            </a:r>
          </a:p>
          <a:p>
            <a:pPr lvl="1">
              <a:defRPr sz="1300"/>
            </a:pPr>
            <a:r>
              <a:t>(last_digest_sent_at IS NULL OR last_digest_sent_at &lt;= now - 7 days).</a:t>
            </a:r>
          </a:p>
          <a:p>
            <a:pPr lvl="1">
              <a:defRPr sz="1300"/>
            </a:pPr>
            <a:r>
              <a:t>For each due user, in a per-user try/except: calls</a:t>
            </a:r>
          </a:p>
          <a:p>
            <a:pPr lvl="1">
              <a:defRPr sz="1300"/>
            </a:pPr>
            <a:r>
              <a:t>email_delivery.send_digest_notification(...), and on success updates last_digest_sent_at = now(). On failure, logs {user_id, error} (no email address — same no-PII-in-logs discipline as guardrails.py's incident logging, §6.1) and leaves last_digest_sent_at unchanged so the user is naturally retried on the next day's r…</a:t>
            </a:r>
          </a:p>
          <a:p>
            <a:pPr lvl="1">
              <a:defRPr sz="1300"/>
            </a:pPr>
            <a:r>
              <a:t>Runs in-process, sharing the FastAPI process — rejected the</a:t>
            </a:r>
          </a:p>
          <a:p>
            <a:pPr lvl="1">
              <a:defRPr sz="1300"/>
            </a:pPr>
            <a:r>
              <a:t>separate-cron-process alternative for the same reason the original fallback gave: fewer moving parts for a local, single-process app. This does mean the digest job only fires while the app process is running; for a local target environment (PROJECT_CONTEXT.md) where the app isn't expected to run 24/7 unattended yet, t…</a:t>
            </a:r>
          </a:p>
          <a:p>
            <a:pPr>
              <a:defRPr b="1" sz="1600"/>
            </a:pPr>
            <a:r>
              <a:t>5.4 Data model additions (extends §3, not a new backend)</a:t>
            </a:r>
          </a:p>
          <a:p>
            <a:pPr lvl="1">
              <a:defRPr sz="1300"/>
            </a:pPr>
            <a:r>
              <a:t>Two new columns on users (SQLite, per §3's schema):</a:t>
            </a:r>
          </a:p>
          <a:p>
            <a:pPr lvl="1">
              <a:defRPr sz="1300"/>
            </a:pPr>
            <a:r>
              <a:t>last_digest_sent_at TIMESTAMP NULL — drives the due-check in §5.3.</a:t>
            </a:r>
          </a:p>
          <a:p>
            <a:pPr lvl="1">
              <a:defRPr sz="1300"/>
            </a:pPr>
            <a:r>
              <a:t>unsubscribe_token_hash TEXT NOT NULL — generated once, at account</a:t>
            </a:r>
          </a:p>
          <a:p>
            <a:pPr lvl="1">
              <a:defRPr sz="1300"/>
            </a:pPr>
            <a:r>
              <a:t>creation (or at digest_opt_in first being set true, whichever comes first), using the same pattern as session tokens (SECURITY_KB §1.1): secrets.token_urlsafe(32), only the hash stored (SHA-256, same reasoning as session tokens — not a password, no slow KDF needed), raw token embedded in the unsubscribe URL. This mean…</a:t>
            </a:r>
          </a:p>
          <a:p>
            <a:pPr lvl="1">
              <a:defRPr sz="1300"/>
            </a:pPr>
            <a:r>
              <a:t>Addendum, 2026-07-11 (Increment 3 Test gate) — plaintext unsubscribe_token column. code-agent's Increment-3 build added a third column, unsubscribe_token (plaintext, alongside unsubscribe_token_hash above), because the scheduler's weekly send needs to rebuild the same stable unsubscribe URL every time and a hash can't…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4)</a:t>
            </a:r>
          </a:p>
        </p:txBody>
      </p:sp>
      <p:sp>
        <p:nvSpPr>
          <p:cNvPr id="3" name="Content Placeholder 2"/>
          <p:cNvSpPr>
            <a:spLocks noGrp="1"/>
          </p:cNvSpPr>
          <p:nvPr>
            <p:ph idx="1"/>
          </p:nvPr>
        </p:nvSpPr>
        <p:spPr/>
        <p:txBody>
          <a:bodyPr wrap="square"/>
          <a:lstStyle/>
          <a:p>
            <a:pPr>
              <a:defRPr b="1" sz="1600"/>
            </a:pPr>
            <a:r>
              <a:t>5.5 Unsubscribe: real, one-click, independent of the in-app toggle</a:t>
            </a:r>
          </a:p>
          <a:p>
            <a:pPr lvl="1">
              <a:defRPr sz="1300"/>
            </a:pPr>
            <a:r>
              <a:t>The in-app digest_opt_in Settings toggle remains (governs whether the scheduler considers the user "due" at all — §5.3 step 2), but it is not treated as a sufficient opt-out mechanism once real mail is being sent, because it requires the caregiver to log in to turn email off, which is exactly backwards for someone who…</a:t>
            </a:r>
          </a:p>
          <a:p>
            <a:pPr lvl="1">
              <a:defRPr sz="1300"/>
            </a:pPr>
            <a:r>
              <a:t>New unauthenticated route: GET /digest/unsubscribe?token={raw_token}.</a:t>
            </a:r>
          </a:p>
          <a:p>
            <a:pPr lvl="1">
              <a:defRPr sz="1300"/>
            </a:pPr>
            <a:r>
              <a:t>Deliberately unauthenticated — an unsubscribe link that requires login defeats the point (a caregiver who lost access, or is on a different device, must still be able to opt out with one click) and is also the RFC 8058 / mailbox-provider expectation (§5.6) for a one-click header to work automatically without a login p…</a:t>
            </a:r>
          </a:p>
          <a:p>
            <a:pPr lvl="1">
              <a:defRPr sz="1300"/>
            </a:pPr>
            <a:r>
              <a:t>Looks up unsubscribe_token_hash by hashing the incoming raw token</a:t>
            </a:r>
          </a:p>
          <a:p>
            <a:pPr lvl="1">
              <a:defRPr sz="1300"/>
            </a:pPr>
            <a:r>
              <a:t>(constant-time compare, mirroring session-token lookup discipline), sets digest_opt_in = false on the matching user, and returns a plain confirmation page ("You've been unsubscribed from the weekly digest. You can re-enable it anytime from Settings.") — idempotent: re-visiting an already-unsubscribed link re-confirms…</a:t>
            </a:r>
          </a:p>
          <a:p>
            <a:pPr lvl="1">
              <a:defRPr sz="1300"/>
            </a:pPr>
            <a:r>
              <a:t>**This exact URL is also what the List-Unsubscribe-Post one-click header</a:t>
            </a:r>
          </a:p>
          <a:p>
            <a:pPr lvl="1">
              <a:defRPr sz="1300"/>
            </a:pPr>
            <a:r>
              <a:t>(§5.2) points at** — this is the same mechanism serving both the in-email visible link (footer) and the mailbox-provider automated one-click action, not two separate implementations to keep in sync.</a:t>
            </a:r>
          </a:p>
          <a:p>
            <a:pPr lvl="1">
              <a:defRPr sz="1300"/>
            </a:pPr>
            <a:r>
              <a:t>No separate "confirm unsubscribe" step (no "are you sure?" page) — a</a:t>
            </a:r>
          </a:p>
          <a:p>
            <a:pPr lvl="1">
              <a:defRPr sz="1300"/>
            </a:pPr>
            <a:r>
              <a:t>one-click unsubscribe that isn't actually one click fails both the usability goal and, for the List-Unsubscribe-Post header specifically, the RFC 8058 contract (providers expect the action to complete on the single POST, no intermediate page).</a:t>
            </a:r>
          </a:p>
          <a:p>
            <a:pPr>
              <a:defRPr b="1" sz="1600"/>
            </a:pPr>
            <a:r>
              <a:t>5.6 Compliance check: CAN-SPAM, stated explicitly (a gap INDUSTRY_KB did not name)</a:t>
            </a:r>
          </a:p>
          <a:p>
            <a:pPr lvl="1">
              <a:defRPr sz="1300"/>
            </a:pPr>
            <a:r>
              <a:t>INDUSTRY_KB's compliance flags (§2 of that file) cover COPPA, state children's-privacy codes, and targeted-advertising restrictions, but do not name CAN-SPAM — worth stating explicitly here since this revision is the first time this project actually sends commercial-jurisdiction email:</a:t>
            </a:r>
          </a:p>
          <a:p>
            <a:pPr lvl="1">
              <a:defRPr sz="1300"/>
            </a:pPr>
            <a:r>
              <a:t>Applicability, reasoned rather than assumed: CAN-SPAM applies to</a:t>
            </a:r>
          </a:p>
          <a:p>
            <a:pPr lvl="1">
              <a:defRPr sz="1300"/>
            </a:pPr>
            <a:r>
              <a:t>"commercial electronic mail messages." The weekly digest is arguably borderline — its primary purpose is informational/relationship (an update notification), but F9's buying-recommendation content (INDUSTRY_KB §1.5) is reachable from the same digest surface in the in-app content, and CAN-SPAM's own guidance treats mes…</a:t>
            </a:r>
          </a:p>
          <a:p>
            <a:pPr lvl="1">
              <a:defRPr sz="1300"/>
            </a:pPr>
            <a:r>
              <a:t>What CAN-SPAM requires, and how this design satisfies each:</a:t>
            </a:r>
          </a:p>
          <a:p>
            <a:pPr lvl="1">
              <a:defRPr sz="1300"/>
            </a:pPr>
            <a:r>
              <a:t>*Accurate header/subject information* — the fixed subject line and</a:t>
            </a:r>
          </a:p>
          <a:p>
            <a:pPr lvl="1">
              <a:defRPr sz="1300"/>
            </a:pPr>
            <a:r>
              <a:t>from address (§5.1) are non-deceptive by construction (no fake sender name, no misleading subject).</a:t>
            </a:r>
          </a:p>
          <a:p>
            <a:pPr lvl="1">
              <a:defRPr sz="1300"/>
            </a:pPr>
            <a:r>
              <a:t>*Clear identification as an ad, if applicable* — not applicable if the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5)</a:t>
            </a:r>
          </a:p>
        </p:txBody>
      </p:sp>
      <p:sp>
        <p:nvSpPr>
          <p:cNvPr id="3" name="Content Placeholder 2"/>
          <p:cNvSpPr>
            <a:spLocks noGrp="1"/>
          </p:cNvSpPr>
          <p:nvPr>
            <p:ph idx="1"/>
          </p:nvPr>
        </p:nvSpPr>
        <p:spPr/>
        <p:txBody>
          <a:bodyPr wrap="square"/>
          <a:lstStyle/>
          <a:p>
            <a:pPr lvl="1">
              <a:defRPr sz="1300"/>
            </a:pPr>
            <a:r>
              <a:t>notification-only content design (§5.1) is followed exactly (no product content in the email body itself — see below); this is in fact another reason the neutral, content-free notification design is the right choice, not just a privacy-minimization one.</a:t>
            </a:r>
          </a:p>
          <a:p>
            <a:pPr lvl="1">
              <a:defRPr sz="1300"/>
            </a:pPr>
            <a:r>
              <a:t>*A valid physical postal address* — **new requirement this design must</a:t>
            </a:r>
          </a:p>
          <a:p>
            <a:pPr lvl="1">
              <a:defRPr sz="1300"/>
            </a:pPr>
            <a:r>
              <a:t>carry: the email footer must include a real mailing address or registered PO box. This is a business/operational detail outside solution-architect's authority to invent (it requires an actual address to exist) — flagged for the human/deploy-agent to supply before the scheduler is enabled against real users**; email_de…</a:t>
            </a:r>
          </a:p>
          <a:p>
            <a:pPr lvl="1">
              <a:defRPr sz="1300"/>
            </a:pPr>
            <a:r>
              <a:t>*A working opt-out mechanism, honored within 10 business days* — §5.5's</a:t>
            </a:r>
          </a:p>
          <a:p>
            <a:pPr lvl="1">
              <a:defRPr sz="1300"/>
            </a:pPr>
            <a:r>
              <a:t>unsubscribe is honored immediately (same request, not batched), which exceeds the statutory floor.</a:t>
            </a:r>
          </a:p>
          <a:p>
            <a:pPr lvl="1">
              <a:defRPr sz="1300"/>
            </a:pPr>
            <a:r>
              <a:t>*No opt-out fee, no additional info required beyond email address* —</a:t>
            </a:r>
          </a:p>
          <a:p>
            <a:pPr lvl="1">
              <a:defRPr sz="1300"/>
            </a:pPr>
            <a:r>
              <a:t>satisfied structurally: §5.5's endpoint takes only the token, no login, no form.</a:t>
            </a:r>
          </a:p>
          <a:p>
            <a:pPr lvl="1">
              <a:defRPr sz="1300"/>
            </a:pPr>
            <a:r>
              <a:t>Not a CAN-SPAM point but adjacent and worth stating: AADC-direction</a:t>
            </a:r>
          </a:p>
          <a:p>
            <a:pPr lvl="1">
              <a:defRPr sz="1300"/>
            </a:pPr>
            <a:r>
              <a:t>states (INDUSTRY_KB §2.3) favor privacy-protective defaults generally — digest_opt_in defaulting to false (unchanged from the original design) already aligns with that direction; this revision does not change the default.</a:t>
            </a:r>
          </a:p>
          <a:p>
            <a:pPr>
              <a:defRPr b="1" sz="1600"/>
            </a:pPr>
            <a:r>
              <a:t>5.7 Privacy design: what actually goes in the email body</a:t>
            </a:r>
          </a:p>
          <a:p>
            <a:pPr lvl="1">
              <a:defRPr sz="1300"/>
            </a:pPr>
            <a:r>
              <a:t>This is the direct answer to the original deferral's stated concern, not a side note:</a:t>
            </a:r>
          </a:p>
          <a:p>
            <a:pPr lvl="1">
              <a:defRPr sz="1300"/>
            </a:pPr>
            <a:r>
              <a:t>**The email body never contains the child's real name, DOB, age, or any</a:t>
            </a:r>
          </a:p>
          <a:p>
            <a:pPr lvl="1">
              <a:defRPr sz="1300"/>
            </a:pPr>
            <a:r>
              <a:t>milestone/developmental content.** It is a pure notification:</a:t>
            </a:r>
          </a:p>
          <a:p>
            <a:pPr lvl="1">
              <a:defRPr sz="1300"/>
            </a:pPr>
            <a:r>
              <a:t>Subject: "Your weekly little-milestones update is ready" — fixed,</a:t>
            </a:r>
          </a:p>
          <a:p>
            <a:pPr lvl="1">
              <a:defRPr sz="1300"/>
            </a:pPr>
            <a:r>
              <a:t>identical for every send, no per-family interpolation.</a:t>
            </a:r>
          </a:p>
          <a:p>
            <a:pPr lvl="1">
              <a:defRPr sz="1300"/>
            </a:pPr>
            <a:r>
              <a:t>Body: a short, fixed sentence ("There's something new for your little</a:t>
            </a:r>
          </a:p>
          <a:p>
            <a:pPr lvl="1">
              <a:defRPr sz="1300"/>
            </a:pPr>
            <a:r>
              <a:t>one this week — activities, milestones, and a memory prompt are waiting for you.") plus a login-required CTA button/link to the in-app /digest panel (§5.0), plus the footer (unsubscribe link + mailing address, §5.5–5.6).</a:t>
            </a:r>
          </a:p>
          <a:p>
            <a:pPr lvl="1">
              <a:defRPr sz="1300"/>
            </a:pPr>
            <a:r>
              <a:t>No child name substitution, even as a personalization touch. The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6)</a:t>
            </a:r>
          </a:p>
        </p:txBody>
      </p:sp>
      <p:sp>
        <p:nvSpPr>
          <p:cNvPr id="3" name="Content Placeholder 2"/>
          <p:cNvSpPr>
            <a:spLocks noGrp="1"/>
          </p:cNvSpPr>
          <p:nvPr>
            <p:ph idx="1"/>
          </p:nvPr>
        </p:nvSpPr>
        <p:spPr/>
        <p:txBody>
          <a:bodyPr wrap="square"/>
          <a:lstStyle/>
          <a:p>
            <a:pPr lvl="1">
              <a:defRPr sz="1300"/>
            </a:pPr>
            <a:r>
              <a:t>original deferral's concern was specifically "a child's name and developmental stage leaving the machine... on a recurring, unattended basis" — the design answer is that neither ever does. What leaves the machine, per send, is: the caregiver's own email address (already known to the mail provider by virtue of being th…</a:t>
            </a:r>
          </a:p>
          <a:p>
            <a:pPr lvl="1">
              <a:defRPr sz="1300"/>
            </a:pPr>
            <a:r>
              <a:t>All specifics require login. The actual "Maya is 14 months this</a:t>
            </a:r>
          </a:p>
          <a:p>
            <a:pPr lvl="1">
              <a:defRPr sz="1300"/>
            </a:pPr>
            <a:r>
              <a:t>week" content (INDUSTRY_KB §1.4 point 5's example digest copy) is rendered only by the authenticated /digest in-app panel — the email's role is purely "come look," never "here is the content." This is a stronger privacy posture than a typical transactional-email design (most competitors in this category, per INDUSTRY_…</a:t>
            </a:r>
          </a:p>
          <a:p>
            <a:pPr>
              <a:defRPr b="1" sz="1600"/>
            </a:pPr>
            <a:r>
              <a:t>5.8 API key handling</a:t>
            </a:r>
          </a:p>
          <a:p>
            <a:pPr lvl="1">
              <a:defRPr sz="1300"/>
            </a:pPr>
            <a:r>
              <a:t>RESEND_API_KEY in .env, following the exact pattern already established for PHOTO_ENCRYPTION_KEY/ANTHROPIC_API_KEY/OPENAI_API_KEY (SECURITY_KB §2.5): never committed, .env already gitignored per the inherited template pattern, verified (not assumed) at Review gate. No new secret-handling mechanism is introduced — this…</a:t>
            </a:r>
          </a:p>
          <a:p>
            <a:pPr>
              <a:defRPr b="1" sz="1600"/>
            </a:pPr>
            <a:r>
              <a:t>5.9 What is explicitly NOT built this run</a:t>
            </a:r>
          </a:p>
          <a:p>
            <a:pPr lvl="1">
              <a:defRPr sz="1300"/>
            </a:pPr>
            <a:r>
              <a:t>No per-user send-time preference (fixed 08:00 server time for</a:t>
            </a:r>
          </a:p>
          <a:p>
            <a:pPr lvl="1">
              <a:defRPr sz="1300"/>
            </a:pPr>
            <a:r>
              <a:t>everyone) — right-sized; a preference UI is a real feature with no corresponding requirement in F8's approved scope.</a:t>
            </a:r>
          </a:p>
          <a:p>
            <a:pPr lvl="1">
              <a:defRPr sz="1300"/>
            </a:pPr>
            <a:r>
              <a:t>No email open/click tracking — no tracking pixel, no click-through</a:t>
            </a:r>
          </a:p>
          <a:p>
            <a:pPr lvl="1">
              <a:defRPr sz="1300"/>
            </a:pPr>
            <a:r>
              <a:t>analytics on the CTA link. Adding either would mean Resend (or an analytics layer) recording *when a caregiver opens an email about their child* — exactly the kind of incidental, unnecessary third-party data-flow expansion the original privacy concern was about, and nothing in F8's requirement needs it. Stated explici…</a:t>
            </a:r>
          </a:p>
          <a:p>
            <a:pPr lvl="1">
              <a:defRPr sz="1300"/>
            </a:pPr>
            <a:r>
              <a:t>No digest-frequency options (weekly only, matching F8's approved</a:t>
            </a:r>
          </a:p>
          <a:p>
            <a:pPr lvl="1">
              <a:defRPr sz="1300"/>
            </a:pPr>
            <a:r>
              <a:t>scope) — a configurable cadence is a real feature, not built this run.</a:t>
            </a:r>
          </a:p>
          <a:p>
            <a:pPr lvl="1">
              <a:defRPr sz="1300"/>
            </a:pPr>
            <a:r>
              <a:t>No re-engagement/win-back email sequence — F8 is a standing opt-in</a:t>
            </a:r>
          </a:p>
          <a:p>
            <a:pPr lvl="1">
              <a:defRPr sz="1300"/>
            </a:pPr>
            <a:r>
              <a:t>weekly notification, not a marketing sequence; building the latter would be scope creep beyond the approved backlog item.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Email/notification infrastructure (F8 delivery) — REVISED, real delivery (cont'd 7)</a:t>
            </a:r>
          </a:p>
        </p:txBody>
      </p:sp>
      <p:sp>
        <p:nvSpPr>
          <p:cNvPr id="3" name="Content Placeholder 2"/>
          <p:cNvSpPr>
            <a:spLocks noGrp="1"/>
          </p:cNvSpPr>
          <p:nvPr>
            <p:ph idx="1"/>
          </p:nvPr>
        </p:nvSpPr>
        <p:spPr/>
        <p:txBody>
          <a:bodyPr wrap="square"/>
          <a:lstStyle/>
          <a:p>
            <a:pPr>
              <a:defRPr b="1" sz="1600"/>
            </a:pPr>
            <a:r>
              <a:t>5.10 Seam preserved from the original design</a:t>
            </a:r>
          </a:p>
          <a:p>
            <a:pPr lvl="1">
              <a:defRPr sz="1300"/>
            </a:pPr>
            <a:r>
              <a:t>digest.py's build_digest (in-app content assembly) remains delivery-agnostic, exactly as the original deferral noted — this revision adds a delivery channel (email_delivery.py + scheduler.py) without touching build_digest itself, confirming the original seam design was correct even though the deferral decision built 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Output-side enforcement (beyond system-prompt instructions)</a:t>
            </a:r>
          </a:p>
        </p:txBody>
      </p:sp>
      <p:sp>
        <p:nvSpPr>
          <p:cNvPr id="3" name="Content Placeholder 2"/>
          <p:cNvSpPr>
            <a:spLocks noGrp="1"/>
          </p:cNvSpPr>
          <p:nvPr>
            <p:ph idx="1"/>
          </p:nvPr>
        </p:nvSpPr>
        <p:spPr/>
        <p:txBody>
          <a:bodyPr wrap="square"/>
          <a:lstStyle/>
          <a:p>
            <a:pPr lvl="1">
              <a:defRPr sz="1300"/>
            </a:pPr>
            <a:r>
              <a:t>System-prompt rules (PLAN §3.4) are necessary but, per DOMAIN_KB R1/R2 and the general behavior of LLMs under adversarial or merely unlucky phrasing, not sufficient on their own — especially once F8's digest generation runs unattended (no parent in the loop to notice a bad response the way a chat turn is at least read…</a:t>
            </a:r>
          </a:p>
          <a:p>
            <a:pPr lvl="1">
              <a:defRPr sz="1300"/>
            </a:pPr>
            <a:r>
              <a:t>Correction, Increment-2 fix pass: /digest does not run guardrails.enforce() (or check_framing/check_medical) at request time, and correctly so — digest.py's build_digest is pure, curated-data assembly (the same CDC-2022 table + fixed activity/ supervision text §1 already grounds everything else in) with zero LLM invol…</a:t>
            </a:r>
          </a:p>
          <a:p>
            <a:pPr>
              <a:defRPr b="1" sz="1600"/>
            </a:pPr>
            <a:r>
              <a:t>6.1 R1 anxiety-framing check (guardrails.check_framing(text) -&gt; Violation | None)</a:t>
            </a:r>
          </a:p>
          <a:p>
            <a:pPr lvl="1">
              <a:defRPr sz="1300"/>
            </a:pPr>
            <a:r>
              <a:t>Runs after the full response is assembled (streaming responses are checked on the complete buffered text before being released to the client for non-streaming, LLM-touching paths; /digest has no LLM-touching path to check at all, see the correction above) against:</a:t>
            </a:r>
          </a:p>
          <a:p>
            <a:pPr lvl="1">
              <a:defRPr sz="1300"/>
            </a:pPr>
            <a:r>
              <a:t>A denylist regex/phrase set: "behind," "delayed" (in a child-comparison</a:t>
            </a:r>
          </a:p>
          <a:p>
            <a:pPr lvl="1">
              <a:defRPr sz="1300"/>
            </a:pPr>
            <a:r>
              <a:t>context — a simple substring check is intentionally over-inclusive here; false positives are cheap, a missed violation is not), "ahead of," "percentile," "don't worry," "plenty of kids," any percentile-number pattern (\d{1,2}(st|nd|rd|th)\s*percentile).</a:t>
            </a:r>
          </a:p>
          <a:p>
            <a:pPr lvl="1">
              <a:defRPr sz="1300"/>
            </a:pPr>
            <a:r>
              <a:t>Pre-2022 milestone age patterns are structurally impossible if grounding</a:t>
            </a:r>
          </a:p>
          <a:p>
            <a:pPr lvl="1">
              <a:defRPr sz="1300"/>
            </a:pPr>
            <a:r>
              <a:t>(§1) is followed correctly (the model is never asked to originate an age), but as a backstop, guardrails.py also flags any numeric age pattern ("X months") that does not match one of the curated table's own bucket values when the response is discussing a milestone — this is a heuristic, not a hard block (free-text ans…</a:t>
            </a:r>
          </a:p>
          <a:p>
            <a:pPr lvl="1">
              <a:defRPr sz="1300"/>
            </a:pPr>
            <a:r>
              <a:t>On violation: the response is not silently passed through. Behavior:</a:t>
            </a:r>
          </a:p>
          <a:p>
            <a:pPr lvl="1">
              <a:defRPr sz="1300"/>
            </a:pPr>
            <a:r>
              <a:t>the offending response is discarded and replaced with a fixed, safe fallback message ("Let's take that differently — [restated CDC-2022 framing pulled directly from the curated table] — it's worth mentioning to your pediatrician if you're not seeing this yet.") plus the incident is logged (no PII beyond profile id, to…</a:t>
            </a:r>
          </a:p>
          <a:p>
            <a:pPr lvl="1">
              <a:defRPr sz="1300"/>
            </a:pPr>
            <a:r>
              <a:t>Streaming trade-off, stated explicitly: /chat is specified as a streaming response (PLAN §4.1, template default). A true per-token guardrail check that can swap out an in-flight stream requires either (a) buffering the full response server-side before streaming to the client (loses perceived latency, the one thing a s…</a:t>
            </a:r>
          </a:p>
          <a:p>
            <a:pPr>
              <a:defRPr b="1" sz="1600"/>
            </a:pPr>
            <a:r>
              <a:t>6.2 R2 medical-deflection check (guardrails.check_medical(text) -&gt; Violation | None)</a:t>
            </a:r>
          </a:p>
          <a:p>
            <a:pPr lvl="1">
              <a:defRPr sz="1300"/>
            </a:pPr>
            <a:r>
              <a:t>Pattern-matches for dosage-shaped output (\d+\s?(mg|ml|mcg), drug-name list from a small fixed denylist: acetaminophen/Tylenol, ibuprofen/Motrin, etc.) and diagnostic-assertion phrasing ("this is/sounds like/is likely [condition]"). Same discard-and-replace behavior as §6.1, replacement text is the fixed pediatrician-…</a:t>
            </a:r>
          </a:p>
          <a:p>
            <a:pPr>
              <a:defRPr b="1" sz="1600"/>
            </a:pPr>
            <a:r>
              <a:t>6.3 F9 CPSC recall filter — not LLM-adjacent, but stated here for completeness</a:t>
            </a:r>
          </a:p>
          <a:p>
            <a:pPr lvl="1">
              <a:defRPr sz="1300"/>
            </a:pPr>
            <a:r>
              <a:t>Confirms PLAN §4.5's design exactly: products.py applies cpsc_denylist.json as a serve-time filter over the already-curated catalog, i.e. response_items = [i for i in catalog_items if i.category not in denylist], evaluated on every request, not cached pre-filtered at catalog-load time — this is deliberate: it means ev…</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Output-side enforcement (beyond system-prompt instructions) (cont'd 2)</a:t>
            </a:r>
          </a:p>
        </p:txBody>
      </p:sp>
      <p:sp>
        <p:nvSpPr>
          <p:cNvPr id="3" name="Content Placeholder 2"/>
          <p:cNvSpPr>
            <a:spLocks noGrp="1"/>
          </p:cNvSpPr>
          <p:nvPr>
            <p:ph idx="1"/>
          </p:nvPr>
        </p:nvSpPr>
        <p:spPr/>
        <p:txBody>
          <a:bodyPr wrap="square"/>
          <a:lstStyle/>
          <a:p>
            <a:pPr>
              <a:defRPr b="1" sz="1600"/>
            </a:pPr>
            <a:r>
              <a:t>6.4 Test-gate ownership</a:t>
            </a:r>
          </a:p>
          <a:p>
            <a:pPr lvl="1">
              <a:defRPr sz="1300"/>
            </a:pPr>
            <a:r>
              <a:t>guardrails.py's unit tests (does the denylist/pattern logic work in isolation) belong to test-agent's suite. Whether it actually *fires correctly against the full R1/R2 adversarial transcripts* (PLAN §7-A, §7-D15) is responsible-ai-architect's red-team suite — this is an architecture-designed mechanism that responsibl…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Architecture test-suite ownership (Test gate, this project)</a:t>
            </a:r>
          </a:p>
        </p:txBody>
      </p:sp>
      <p:sp>
        <p:nvSpPr>
          <p:cNvPr id="3" name="Content Placeholder 2"/>
          <p:cNvSpPr>
            <a:spLocks noGrp="1"/>
          </p:cNvSpPr>
          <p:nvPr>
            <p:ph idx="1"/>
          </p:nvPr>
        </p:nvSpPr>
        <p:spPr/>
        <p:txBody>
          <a:bodyPr wrap="square"/>
          <a:lstStyle/>
          <a:p>
            <a:pPr lvl="1">
              <a:defRPr sz="1300"/>
            </a:pPr>
            <a:r>
              <a:t>Per the Test suite ownership contract, solution-architect owns:</a:t>
            </a:r>
          </a:p>
          <a:p>
            <a:pPr lvl="1">
              <a:defRPr sz="1300"/>
            </a:pPr>
            <a:r>
              <a:t>Contract tests: route-handler signature stability across the</a:t>
            </a:r>
          </a:p>
          <a:p>
            <a:pPr lvl="1">
              <a:defRPr sz="1300"/>
            </a:pPr>
            <a:r>
              <a:t>Increment-1→3 auth-seam swap (§2); Store[T] interface conformance for every entity store; photo_theme.extract_accent output always satisfies the clamped-band contract (property-based test: for N random hues, derived tokens fall within the specified S/L ranges) or returns None; new (§5 revision): email_delivery.send_di…</a:t>
            </a:r>
          </a:p>
          <a:p>
            <a:pPr lvl="1">
              <a:defRPr sz="1300"/>
            </a:pPr>
            <a:r>
              <a:t>Design-conformance checks: SQLite foreign-key cascade behavior</a:t>
            </a:r>
          </a:p>
          <a:p>
            <a:pPr lvl="1">
              <a:defRPr sz="1300"/>
            </a:pPr>
            <a:r>
              <a:t>(PRAGMA foreign_keys=ON actually enforced — a common SQLite footgun if left at its default-off state; delete-a-family cascades every table); guardrails.py import isolation from photos.py and vice versa (shared static-import-graph check with F7's isolation requirement, §6.3); milestones.py/products.py never called from…</a:t>
            </a:r>
          </a:p>
          <a:p>
            <a:pPr lvl="1">
              <a:defRPr sz="1300"/>
            </a:pPr>
            <a:r>
              <a:t>Evidence recorded per-scenario in projects/little-milestones/test-evidence/,</a:t>
            </a:r>
          </a:p>
          <a:p>
            <a:pPr lvl="1">
              <a:defRPr sz="1300"/>
            </a:pPr>
            <a:r>
              <a:t>per test-agent's documented convention.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Completeness check against this gate's mandate</a:t>
            </a:r>
          </a:p>
        </p:txBody>
      </p:sp>
      <p:sp>
        <p:nvSpPr>
          <p:cNvPr id="3" name="Content Placeholder 2"/>
          <p:cNvSpPr>
            <a:spLocks noGrp="1"/>
          </p:cNvSpPr>
          <p:nvPr>
            <p:ph idx="1"/>
          </p:nvPr>
        </p:nvSpPr>
        <p:spPr/>
        <p:txBody>
          <a:bodyPr wrap="square"/>
          <a:lstStyle/>
          <a:p>
            <a:pPr lvl="1">
              <a:defRPr sz="1300"/>
            </a:pPr>
            <a:r>
              <a:t>R3 grounding — resolved (§1): Option A, curated CDC-2022 table, owner +</a:t>
            </a:r>
          </a:p>
          <a:p>
            <a:pPr lvl="1">
              <a:defRPr sz="1300"/>
            </a:pPr>
            <a:r>
              <a:t>cadence assigned (§1.1).</a:t>
            </a:r>
          </a:p>
          <a:p>
            <a:pPr lvl="1">
              <a:defRPr sz="1300"/>
            </a:pPr>
            <a:r>
              <a:t>Auth design — confirmed with architecture-level refinements (§2); full</a:t>
            </a:r>
          </a:p>
          <a:p>
            <a:pPr lvl="1">
              <a:defRPr sz="1300"/>
            </a:pPr>
            <a:r>
              <a:t>authn/authz reasoning is SECURITY_KB.md's dedicated section.</a:t>
            </a:r>
          </a:p>
          <a:p>
            <a:pPr lvl="1">
              <a:defRPr sz="1300"/>
            </a:pPr>
            <a:r>
              <a:t>Photo storage/encryption — storage layout decided here (§3); encryption</a:t>
            </a:r>
          </a:p>
          <a:p>
            <a:pPr lvl="1">
              <a:defRPr sz="1300"/>
            </a:pPr>
            <a:r>
              <a:t>mechanism, key management, and compliance mapping is SECURITY_KB.md's; isolation-from-LLM structural design confirmed (§6.3, §4.1 step 8).</a:t>
            </a:r>
          </a:p>
          <a:p>
            <a:pPr lvl="1">
              <a:defRPr sz="1300"/>
            </a:pPr>
            <a:r>
              <a:t>Photo color-extraction algorithm — fully specified (§4): server-side,</a:t>
            </a:r>
          </a:p>
          <a:p>
            <a:pPr lvl="1">
              <a:defRPr sz="1300"/>
            </a:pPr>
            <a:r>
              <a:t>upload-time, Pillow-based median-cut extraction, skin-tone exclusion, clamped HSL bands, hue-exclusion rotation, automated contrast pre-check with default-theme fallback, feeding the three --lm-photo-* tokens.</a:t>
            </a:r>
          </a:p>
          <a:p>
            <a:pPr lvl="1">
              <a:defRPr sz="1300"/>
            </a:pPr>
            <a:r>
              <a:t>**Email/notification infrastructure — REVISED, real delivery designed</a:t>
            </a:r>
          </a:p>
          <a:p>
            <a:pPr lvl="1">
              <a:defRPr sz="1300"/>
            </a:pPr>
            <a:r>
              <a:t>(§5): Resend (transactional API, generous free tier), in-process APScheduler daily job (confirms the original fallback), content-free notification-only email body (no child name/age/milestone content — direct answer to the original privacy concern), real one-click unsubscribe independent of the in-app toggle (RFC 8058…</a:t>
            </a:r>
          </a:p>
          <a:p>
            <a:pPr lvl="1">
              <a:defRPr sz="1300"/>
            </a:pPr>
            <a:r>
              <a:t>Storage backend — confirmed SQLite, schema sketched, cascade rules,</a:t>
            </a:r>
          </a:p>
          <a:p>
            <a:pPr lvl="1">
              <a:defRPr sz="1300"/>
            </a:pPr>
            <a:r>
              <a:t>backup posture (none) confirmed (§3).</a:t>
            </a:r>
          </a:p>
          <a:p>
            <a:pPr lvl="1">
              <a:defRPr sz="1300"/>
            </a:pPr>
            <a:r>
              <a:t>Output-side enforcement — guardrails.py designed for R1/R2 (§6.1–6.2),</a:t>
            </a:r>
          </a:p>
          <a:p>
            <a:pPr lvl="1">
              <a:defRPr sz="1300"/>
            </a:pPr>
            <a:r>
              <a:t>F9's structural (non-LLM) filter confirmed (§6.3), streaming trade-off for /chat stated explicitly (buffer-then-check) rather than left implicit.</a:t>
            </a:r>
          </a:p>
          <a:p>
            <a:pPr lvl="1">
              <a:defRPr sz="1300"/>
            </a:pPr>
            <a:r>
              <a:t>Cross-checked against DOMAIN_KB R1–R8: R1 (§6.1, plus UX_KB's payload/DOM rules this KB does not re-litigate), R2 (§6.2), R3 (§1), R4 (unchanged from PLAN §3.3, no architecture objection), R5 (unchanged, activity filtering is milestones.py/activities data + system prompt, no new architecture surface), R6 (§2 hard-dele…</a:t>
            </a:r>
          </a:p>
          <a:p>
            <a:pPr lvl="1">
              <a:defRPr sz="1300"/>
            </a:pPr>
            <a:r>
              <a:t>Cross-checked against INDUSTRY_KB compliance flags: no AI training on child data/photos (§4.1 step 8 — nothing photo-derived reaches the LLM layer, and no training pipeline exists in this project at all), no face processing (§4.1 step 4's clarifying note — color-cluster heuristic, not facial geometry), retention/delet…</a:t>
            </a:r>
          </a:p>
          <a:p>
            <a:pPr lvl="1">
              <a:defRPr sz="1300"/>
            </a:pPr>
            <a:r>
              <a:t>Cross-checked against UX_KB design contracts: §5's responsive strategy requires no backend changes (it's a frontend/CSS concern; the API shapes already support it) — noted here as confirmation, not a gap. §6's photo-personalization contract is fully addressed by §4. UX_KB's R1 structural payload rules (no expected_by/…</a:t>
            </a:r>
          </a:p>
          <a:p>
            <a:pPr lvl="1">
              <a:defRPr sz="1300"/>
            </a:pPr>
            <a:r>
              <a:t>No disagreement between solution-architect and security-architect at this gate — see SECURITY_KB.md for security-architect's independent sign-off on the auth and photo-encryption portions of this design. Any disagreement would be flagged explicitly in both files; there is none to record. This applies to the original 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Increment 2 architecture follow-ups (solution-architect, 2026-07-11)</a:t>
            </a:r>
          </a:p>
        </p:txBody>
      </p:sp>
      <p:sp>
        <p:nvSpPr>
          <p:cNvPr id="3" name="Content Placeholder 2"/>
          <p:cNvSpPr>
            <a:spLocks noGrp="1"/>
          </p:cNvSpPr>
          <p:nvPr>
            <p:ph idx="1"/>
          </p:nvPr>
        </p:nvSpPr>
        <p:spPr/>
        <p:txBody>
          <a:bodyPr wrap="square"/>
          <a:lstStyle/>
          <a:p>
            <a:pPr lvl="1">
              <a:defRPr sz="1300"/>
            </a:pPr>
            <a:r>
              <a:t>code-agent flagged two open design questions in the Increment-2 implementation summary (PROJECT_CONTEXT.md) before the Test gate runs. Both resolved here. Neither required security-architect co-review (no auth/encryption/data-flow surface touched) or a human gate re-approval (both are within solution- architect's "how…</a:t>
            </a:r>
          </a:p>
          <a:p>
            <a:pPr>
              <a:defRPr b="1" sz="1600"/>
            </a:pPr>
            <a:r>
              <a:t>9.1 HEIC uploads — decision: close the gap, add pillow-heif</a:t>
            </a:r>
          </a:p>
          <a:p>
            <a:pPr lvl="1">
              <a:defRPr sz="1300"/>
            </a:pPr>
            <a:r>
              <a:t>Decision: (a), add pillow-heif as an approved dependency. Not (b) document-only.</a:t>
            </a:r>
          </a:p>
          <a:p>
            <a:pPr lvl="1">
              <a:defRPr sz="1300"/>
            </a:pPr>
            <a:r>
              <a:t>Reasoning: SECURITY_KB §2's EXIF-GPS-stripped-on-upload commitment (PLAN §4.3) is not a soft preference — it is the stated privacy guarantee for a product whose entire premise is storing photos of children. HEIC is not an edge-case format for this product's actual user base: it is Apple's default capture format on eve…</a:t>
            </a:r>
          </a:p>
          <a:p>
            <a:pPr lvl="1">
              <a:defRPr sz="1300"/>
            </a:pPr>
            <a:r>
              <a:t>pillow-heif is a mature, actively-maintained plugin (not a heavy or novel dependency — it registers a Pillow-compatible codec, pillow_heif. register_heif_opener(), after which photos.py's existing Pillow-based EXIF-strip and photo_theme.py's existing extraction pipeline both handle HEIC with zero pipeline-logic change…</a:t>
            </a:r>
          </a:p>
          <a:p>
            <a:pPr lvl="1">
              <a:defRPr sz="1300"/>
            </a:pPr>
            <a:r>
              <a:t>What code-agent's next pass must do (not implemented by solution-architect — this is implementation work):</a:t>
            </a:r>
          </a:p>
          <a:p>
            <a:pPr lvl="1">
              <a:defRPr sz="1300"/>
            </a:pPr>
            <a:r>
              <a:t>Add pillow-heif to the backend's dependency list (pyproject.toml/</a:t>
            </a:r>
          </a:p>
          <a:p>
            <a:pPr lvl="1">
              <a:defRPr sz="1300"/>
            </a:pPr>
            <a:r>
              <a:t>requirements.txt), alongside Pillow.</a:t>
            </a:r>
          </a:p>
          <a:p>
            <a:pPr lvl="1">
              <a:defRPr sz="1300"/>
            </a:pPr>
            <a:r>
              <a:t>Call pillow_heif.register_heif_opener() once at app startup (e.g. in</a:t>
            </a:r>
          </a:p>
          <a:p>
            <a:pPr lvl="1">
              <a:defRPr sz="1300"/>
            </a:pPr>
            <a:r>
              <a:t>main.py or db.py's init path, wherever other one-time startup registration lives).</a:t>
            </a:r>
          </a:p>
          <a:p>
            <a:pPr lvl="1">
              <a:defRPr sz="1300"/>
            </a:pPr>
            <a:r>
              <a:t>Remove the current HEIC special-case (the photo_exif_strip_failed</a:t>
            </a:r>
          </a:p>
          <a:p>
            <a:pPr lvl="1">
              <a:defRPr sz="1300"/>
            </a:pPr>
            <a:r>
              <a:t>fallback-to-raw-bytes path in photos.py) for the format itself — HEIC should flow through the same EXIF-strip and photo_theme.extract_accent pipeline as JPEG/PNG once the plugin is registered, no separate code path.</a:t>
            </a:r>
          </a:p>
          <a:p>
            <a:pPr lvl="1">
              <a:defRPr sz="1300"/>
            </a:pPr>
            <a:r>
              <a:t>Add regression tests: a real (or synthetically-constructed) HEIC fixture</a:t>
            </a:r>
          </a:p>
          <a:p>
            <a:pPr lvl="1">
              <a:defRPr sz="1300"/>
            </a:pPr>
            <a:r>
              <a:t>upload asserts EXIF-GPS is stripped and a theme accent is extracted, same assertions as the existing JPEG/PNG upload tests.</a:t>
            </a:r>
          </a:p>
          <a:p>
            <a:pPr lvl="1">
              <a:defRPr sz="1300"/>
            </a:pPr>
            <a:r>
              <a:t>Verify pillow_heif doesn't reintroduce any dependency the plan's</a:t>
            </a:r>
          </a:p>
          <a:p>
            <a:pPr lvl="1">
              <a:defRPr sz="1300"/>
            </a:pPr>
            <a:r>
              <a:t>approved list was deliberately keeping out (it has no ML/network dependencies of its own — a pure C-library-backed codec binding — so no conflict expected, but this is code-agent's install-and-verify step, not an assumption to carry forward unchecked).</a:t>
            </a:r>
          </a:p>
          <a:p>
            <a:pPr lvl="1">
              <a:defRPr sz="1300"/>
            </a:pPr>
            <a:r>
              <a:t>Not a revisit-trigger deferral — this is closed now, at the next code-agent pass, before Test gate re-runs, since it is a real privacy- commitment gap rather than a scoped-out feature.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Increment 2 architecture follow-ups (solution-architect, 2026-07-11) (cont'd 2)</a:t>
            </a:r>
          </a:p>
        </p:txBody>
      </p:sp>
      <p:sp>
        <p:nvSpPr>
          <p:cNvPr id="3" name="Content Placeholder 2"/>
          <p:cNvSpPr>
            <a:spLocks noGrp="1"/>
          </p:cNvSpPr>
          <p:nvPr>
            <p:ph idx="1"/>
          </p:nvPr>
        </p:nvSpPr>
        <p:spPr/>
        <p:txBody>
          <a:bodyPr wrap="square"/>
          <a:lstStyle/>
          <a:p>
            <a:pPr>
              <a:defRPr b="1" sz="1600"/>
            </a:pPr>
            <a:r>
              <a:t>9.2 Multi-photo theme-source tracking — decision: accept as a documented Increment-2 limitation</a:t>
            </a:r>
          </a:p>
          <a:p>
            <a:pPr lvl="1">
              <a:defRPr sz="1300"/>
            </a:pPr>
            <a:r>
              <a:t>Decision: (a), acceptable simplification for Increment 2. No schema addition (theme_source_photo_id FK or equivalent) this run.</a:t>
            </a:r>
          </a:p>
          <a:p>
            <a:pPr lvl="1">
              <a:defRPr sz="1300"/>
            </a:pPr>
            <a:r>
              <a:t>Reasoning: unlike §9.1, this gap sits entirely in decorative UI territory — UX_KB §6's photo-personalization theme is explicitly a "decorative accent layer only" (per the Architecture-gate summary, PROJECT_CONTEXT.md), structurally excluded from anything safety- or privacy-bearing (no LLM reachability, no PII implicat…</a:t>
            </a:r>
          </a:p>
          <a:p>
            <a:pPr lvl="1">
              <a:defRPr sz="1300"/>
            </a:pPr>
            <a:r>
              <a:t>Adding theme_source_photo_id now would be real, non-trivial scope: a schema migration, delete-time "find the next-most-recent remaining photo and recompute" logic, and a UX_KB decision (not solution-architect's alone) about whether "falls back to next-most-recent" is even the experience design wants, versus e.g. "alwa…</a:t>
            </a:r>
          </a:p>
          <a:p>
            <a:pPr lvl="1">
              <a:defRPr sz="1300"/>
            </a:pPr>
            <a:r>
              <a:t>Documented as a known Increment-2 limitation, with an explicit revisit trigger: revisit if either (a) a future increment's UX_KB revision specifies multi-photo theme-fallback behavior explicitly (at which point this becomes a scoped, spec'd feature rather than a speculative one), or (b) red-team/UX testing at a future…</a:t>
            </a:r>
          </a:p>
          <a:p>
            <a:pPr>
              <a:defRPr b="1" sz="1600"/>
            </a:pPr>
            <a:r>
              <a:t>9.3 Increment 4 — avatar_photo_id and profile-level photo replacement (solution-architect, 2026-07-12)</a:t>
            </a:r>
          </a:p>
          <a:p>
            <a:pPr lvl="1">
              <a:defRPr sz="1300"/>
            </a:pPr>
            <a:r>
              <a:t>Resolves UX_KB §8.4's flagged backend gap and a second gap found during this consult (repeated profile-level uploads via F14's Settings affordance, UX_KB §8.1a).</a:t>
            </a:r>
          </a:p>
          <a:p>
            <a:pPr lvl="1">
              <a:defRPr sz="1300"/>
            </a:pPr>
            <a:r>
              <a:t>Profile.avatar_photo_id — derived field, not a stored column. Populated at the route layer (same pattern as age_summary), via: SELECT id FROM photo_meta WHERE profile_id = ? AND memory_id IS NULL ORDER BY created_at DESC LIMIT 1. Add an index on photo_meta(profile_id, memory_id, created_at) in schema.sql. Not stored o…</a:t>
            </a:r>
          </a:p>
          <a:p>
            <a:pPr lvl="1">
              <a:defRPr sz="1300"/>
            </a:pPr>
            <a:r>
              <a:t>PhotoStore.create() — replace-not-accumulate for memory_id IS NULL uploads. A profile-level (avatar) upload today creates a new row/file but never removes the previous one, leaving permanently orphaned photo rows/files with no reachable delete path — a real accumulation of undeleted child-photo bytes once Settings mak…</a:t>
            </a:r>
          </a:p>
          <a:p>
            <a:pPr lvl="1">
              <a:defRPr sz="1300"/>
            </a:pPr>
            <a:r>
              <a:t>Recommend a brief security-architect confirmation of this delete-ordering change before code-agent builds it, consistent with this project's existing precedent of re-consulting security-architect on new delete/ data-flow wrinkles (F8's unsubscribe route).</a:t>
            </a:r>
          </a:p>
          <a:p>
            <a:pPr lvl="1">
              <a:defRPr sz="1300"/>
            </a:pPr>
            <a:r>
              <a:t>security-architect confirmed (2026-07-12), no disagreement, three conditions for code-agent:</a:t>
            </a:r>
          </a:p>
          <a:p>
            <a:pPr lvl="1">
              <a:defRPr sz="1300"/>
            </a:pPr>
            <a:r>
              <a:t>The cleanup query must explicitly filter profile_id = ? in addition</a:t>
            </a:r>
          </a:p>
          <a:p>
            <a:pPr lvl="1">
              <a:defRPr sz="1300"/>
            </a:pPr>
            <a:r>
              <a:t>to memory_id IS NULL AND id != new_id — not just implied by which PhotoStore instance is called — so a uuid4 collision or refactor mistake can never delete another profile's rows. Add a regression test asserting cross-profile isolation (uploading to profile B never touches profile A's rows).</a:t>
            </a:r>
          </a:p>
          <a:p>
            <a:pPr lvl="1">
              <a:defRPr sz="1300"/>
            </a:pPr>
            <a:r>
              <a:t>This cleanup path deliberately bypasses delete()'s own authz check</a:t>
            </a:r>
          </a:p>
          <a:p>
            <a:pPr lvl="1">
              <a:defRPr sz="1300"/>
            </a:pPr>
            <a:r>
              <a:t>(§2.3's owner-only-delete rule) because it runs inside an already-authorized upload request context — add a one-line code comment saying so explicitly, so a future reader doesn't mistake the bypass for an oversight.</a:t>
            </a:r>
          </a:p>
          <a:p>
            <a:pPr lvl="1">
              <a:defRPr sz="1300"/>
            </a:pPr>
            <a:r>
              <a:t>Add a regression test: upload a profile-level photo twice, assert</a:t>
            </a:r>
          </a:p>
          <a:p>
            <a:pPr lvl="1">
              <a:defRPr sz="1300"/>
            </a:pPr>
            <a:r>
              <a:t>exactly one memory_id IS NULL row/file remains for that profile and it's the new one (both DB row count and on-disk file count).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Increment 5 — chat history + dynamic suggested prompts (F13) (solution-ar…</a:t>
            </a:r>
          </a:p>
        </p:txBody>
      </p:sp>
      <p:sp>
        <p:nvSpPr>
          <p:cNvPr id="3" name="Content Placeholder 2"/>
          <p:cNvSpPr>
            <a:spLocks noGrp="1"/>
          </p:cNvSpPr>
          <p:nvPr>
            <p:ph idx="1"/>
          </p:nvPr>
        </p:nvSpPr>
        <p:spPr/>
        <p:txBody>
          <a:bodyPr wrap="square"/>
          <a:lstStyle/>
          <a:p>
            <a:pPr lvl="1">
              <a:defRPr sz="1300"/>
            </a:pPr>
            <a:r>
              <a:t>Resolves the schema/scoping/perf questions UX_KB §9 flagged as Architecture's to decide. Human already settled chat history's sharing model at the UX gate: shared per-profile, same sharing model as memories/photos (not private per-caregiver) — not re-litigated here.</a:t>
            </a:r>
          </a:p>
          <a:p>
            <a:pPr>
              <a:defRPr b="1" sz="1600"/>
            </a:pPr>
            <a:r>
              <a:t>10.1 Schema</a:t>
            </a:r>
          </a:p>
          <a:p>
            <a:pPr lvl="1">
              <a:defRPr sz="1100">
                <a:solidFill>
                  <a:srgbClr val="393939"/>
                </a:solidFill>
                <a:latin typeface="Consolas"/>
              </a:defRPr>
            </a:pPr>
            <a:r>
              <a:t>CREATE TABLE chat_sessions ( id INTEGER PRIMARY KEY AUTOINCREMENT, profile_id INTEGER NOT NULL REFERENCES profiles(id) ON DELETE CASCADE, snippet TEXT NOT NULL, message_count INTEGER NOT NULL DEFAULT 0, created_at TEXT NOT NULL DEFAULT (datetime('now')), last…</a:t>
            </a:r>
          </a:p>
          <a:p>
            <a:pPr lvl="1">
              <a:defRPr sz="1300"/>
            </a:pPr>
            <a:r>
              <a:t>No family_id column on either table — scoped transitively via profile_id → family_id, the MemoryStore/PhotoStore pattern (§0), not ProfileStore's direct-scoping pattern. ChatSessionStore.list_for_profile(profile_id); message access via list_for_session(session_id) after confirming the session's profile_id belongs to t…</a:t>
            </a:r>
          </a:p>
          <a:p>
            <a:pPr lvl="1">
              <a:defRPr sz="1300"/>
            </a:pPr>
            <a:r>
              <a:t>Id convention: plain autoincrementing INTEGER, not TEXT/uuid4 — a deliberate departure from the photo_meta.id precedent, not an inconsistency with it. photo_meta.id is TEXT/uuid4 for one specific, narrow reason (§3): it doubles as an on-disk filename, so it must be non-enumerable. Neither chat_sessions.id nor chat_mes…</a:t>
            </a:r>
          </a:p>
          <a:p>
            <a:pPr lvl="1">
              <a:defRPr sz="1300"/>
            </a:pPr>
            <a:r>
              <a:t>message_count is a maintained counter (incremented on write, not COUNT(*) on read) since the history row anatomy (UX_KB §9.1) needs it on every list render.</a:t>
            </a:r>
          </a:p>
          <a:p>
            <a:pPr>
              <a:defRPr b="1" sz="1600"/>
            </a:pPr>
            <a:r>
              <a:t>10.2 Conversation-boundary rule: 4-hour inactivity gap</a:t>
            </a:r>
          </a:p>
          <a:p>
            <a:pPr lvl="1">
              <a:defRPr sz="1300"/>
            </a:pPr>
            <a:r>
              <a:t>Decision: N-hour inactivity gap (4 hours), not a calendar-day boundary. A calendar-day boundary is wrong for this product specifically: the target user is "often at 2 a.m." (UX_KB §1.1), and an 11:50pm→12:10am continuation is one conversation by any reasonable read — a midnight boundary would silently split it, direct…</a:t>
            </a:r>
          </a:p>
          <a:p>
            <a:pPr lvl="1">
              <a:defRPr sz="1300"/>
            </a:pPr>
            <a:r>
              <a:t>Write-time logic: look up the profile's most-recent chat_sessions row by last_message_at. Create a new session if none exists, if now - last_message_at &gt; 4h, or if the request explicitly forces a new session (§10.4). Otherwise append to the existing one.</a:t>
            </a:r>
          </a:p>
          <a:p>
            <a:pPr>
              <a:defRPr b="1" sz="1600"/>
            </a:pPr>
            <a:r>
              <a:t>10.3 Row snippet: stored, write-time-computed. Guardrail-interaction confirmed.</a:t>
            </a:r>
          </a:p>
          <a:p>
            <a:pPr lvl="1">
              <a:defRPr sz="1300"/>
            </a:pPr>
            <a:r>
              <a:t>Stored on chat_sessions.snippet at session-creation time, from the parent's own first message (~80 chars, truncated) — never recomputed on read, since the value never changes after session creation.</a:t>
            </a:r>
          </a:p>
          <a:p>
            <a:pPr lvl="1">
              <a:defRPr sz="1300"/>
            </a:pPr>
            <a:r>
              <a:t>Guardrail-replacement reasoning confirmed against the actual code, not just the spec: chat.py's enforce() transforms raw_text → safe_text (the assistant's output) only; the parent's own request.message is never passed through enforce() and is written to chat_messages verbatim. Since the snippet is defined as "the firs…</a:t>
            </a:r>
          </a:p>
          <a:p>
            <a:pPr>
              <a:defRPr b="1" sz="1600"/>
            </a:pPr>
            <a:r>
              <a:t>10.4 /chat contract: unchanged on the wire, additive persistence side effect</a:t>
            </a:r>
          </a:p>
          <a:p>
            <a:pPr lvl="1">
              <a:defRPr sz="1300"/>
            </a:pPr>
            <a:r>
              <a:t>Exact change to dev/backend/app/routes/chat.py:</a:t>
            </a:r>
          </a:p>
          <a:p>
            <a:pPr lvl="1">
              <a:defRPr sz="1300"/>
            </a:pPr>
            <a:r>
              <a:t>ChatRequest gains one optional field: new_session: bool = False —</a:t>
            </a:r>
          </a:p>
          <a:p>
            <a:pPr lvl="1">
              <a:defRPr sz="1300"/>
            </a:pPr>
            <a:r>
              <a:t>the explicit "+ New conversation" trigger (UX_KB §9.1) forces a fresh session even inside the 4-hour window. Additive: clients omitting it get the existing implicit-resume behavior.</a:t>
            </a:r>
          </a:p>
          <a:p>
            <a:pPr lvl="1">
              <a:defRPr sz="1300"/>
            </a:pPr>
            <a:r>
              <a:t>After safe_text = enforce(...), before the response is built: resolve</a:t>
            </a:r>
          </a:p>
          <a:p>
            <a:pPr lvl="1">
              <a:defRPr sz="1300"/>
            </a:pPr>
            <a:r>
              <a:t>or create the profile's active session (§10.2's rule, or forced-new), insert one chat_messages row for request.message (role='user') and one for safe_text (role='assistant'), update last_message_at and message_count (+2), and — only on session creation — set snippet from request.message (§10.3).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Increment 5 — chat history + dynamic suggested prompts (F13) (solution-ar… (cont'd 2)</a:t>
            </a:r>
          </a:p>
        </p:txBody>
      </p:sp>
      <p:sp>
        <p:nvSpPr>
          <p:cNvPr id="3" name="Content Placeholder 2"/>
          <p:cNvSpPr>
            <a:spLocks noGrp="1"/>
          </p:cNvSpPr>
          <p:nvPr>
            <p:ph idx="1"/>
          </p:nvPr>
        </p:nvSpPr>
        <p:spPr/>
        <p:txBody>
          <a:bodyPr wrap="square"/>
          <a:lstStyle/>
          <a:p>
            <a:pPr lvl="1">
              <a:defRPr sz="1300"/>
            </a:pPr>
            <a:r>
              <a:t>Response JSON gains one additive field: session_id. text,</a:t>
            </a:r>
          </a:p>
          <a:p>
            <a:pPr lvl="1">
              <a:defRPr sz="1300"/>
            </a:pPr>
            <a:r>
              <a:t>disclaimer, and the X-LM-Disclaimer header are unchanged. request.history (client-resent prior turns) is unchanged and remains the mechanism reconstructing the LLM's context window — the new persisted rows are a parallel write path for the history-browsing feature, not a replacement for it.</a:t>
            </a:r>
          </a:p>
          <a:p>
            <a:pPr>
              <a:defRPr b="1" sz="1600"/>
            </a:pPr>
            <a:r>
              <a:t>10.5 Suggested prompts: new endpoint, GET /profiles/{id}/suggested_prompts</a:t>
            </a:r>
          </a:p>
          <a:p>
            <a:pPr lvl="1">
              <a:defRPr sz="1300"/>
            </a:pPr>
            <a:r>
              <a:t>Confirmed server-side, not client-computed. The CDC-bucket + milestone_tag data UX_KB §9.2's T1–T3 templates need is not fully available client-side today: /activities exposes bucket-scoped activity content, but T1's domain_phrase mapping and T2's next_bucket arithmetic live in milestones.py/ages.py and aren't current…</a:t>
            </a:r>
          </a:p>
          <a:p>
            <a:pPr>
              <a:defRPr b="1" sz="1600"/>
            </a:pPr>
            <a:r>
              <a:t>10.6 Pagination/perf: not needed for MVP scope</a:t>
            </a:r>
          </a:p>
          <a:p>
            <a:pPr lvl="1">
              <a:defRPr sz="1300"/>
            </a:pPr>
            <a:r>
              <a:t>Right-sized against this project's "prove the simple case first" precedent (admin/ROADMAP.md's feature-flags pattern; this KB's own restraint at §5.9). GET /profiles/{id}/chat_sessions returns the full list ORDER BY last_message_at DESC; GET /chat_sessions/{id}/messages returns the full list ORDER BY created_at ASC. N…</a:t>
            </a:r>
          </a:p>
          <a:p>
            <a:pPr>
              <a:defRPr b="1" sz="1600"/>
            </a:pPr>
            <a:r>
              <a:t>10.7 "Ask" rename + stage card: zero new backend impact</a:t>
            </a:r>
          </a:p>
          <a:p>
            <a:pPr lvl="1">
              <a:defRPr sz="1300"/>
            </a:pPr>
            <a:r>
              <a:t>Confirmed. The rename (nav label, &lt;title&gt;, no route/component-path change per UX_KB §9.5) touches nothing backend. The .lm-stage-card's prose/domain chips reuse §10.5's endpoint — no second new endpoint beyond what F13's suggested-prompts work already requires.</a:t>
            </a:r>
          </a:p>
          <a:p>
            <a:pPr>
              <a:defRPr b="1" sz="1600"/>
            </a:pPr>
            <a:r>
              <a:t>10.8 Flagged for security-architect (joint-gate requirement, per line 3)</a:t>
            </a:r>
          </a:p>
          <a:p>
            <a:pPr lvl="1">
              <a:defRPr sz="1300"/>
            </a:pPr>
            <a:r>
              <a:t>security-architect confirmed (2026-07-12), no disagreement. Both new list routes and the session-delete route follow the exact §2.3 pattern (family-scoped, cross-family = 404 not 403) — a straightforward extension of MemoryStore/PhotoStore's transitive-scoping shape, no new authz primitive needed. Delete permission: a…</a:t>
            </a:r>
          </a:p>
          <a:p>
            <a:pPr lvl="1">
              <a:defRPr sz="1300"/>
            </a:pPr>
            <a:r>
              <a:t>New delete/data-flow wrinkle, same class this project has consistently sent to security-architect rather than closing solo (F8's unsubscribe route, §9.3's photo replace-not-accumulate ordering): confirm the family-scoping authz check on the two new list routes and the session delete route, specifically because the hum…</a:t>
            </a:r>
          </a:p>
          <a:p>
            <a:pPr>
              <a:defRPr b="1" sz="1600"/>
            </a:pPr>
            <a:r>
              <a:t>10.9 Test-gate ownership addition (extends §7)</a:t>
            </a:r>
          </a:p>
          <a:p>
            <a:pPr lvl="1">
              <a:defRPr sz="1300"/>
            </a:pPr>
            <a:r>
              <a:t>Contract test: /chat's pre/post-Increment-5 response shape —</a:t>
            </a:r>
          </a:p>
          <a:p>
            <a:pPr lvl="1">
              <a:defRPr sz="1300"/>
            </a:pPr>
            <a:r>
              <a:t>text/disclaimer unchanged, session_id additive only, existing callers omitting new_session unaffected.</a:t>
            </a:r>
          </a:p>
          <a:p>
            <a:pPr lvl="1">
              <a:defRPr sz="1300"/>
            </a:pPr>
            <a:r>
              <a:t>Design-conformance check: the 4-hour boundary rule (property test:</a:t>
            </a:r>
          </a:p>
          <a:p>
            <a:pPr lvl="1">
              <a:defRPr sz="1300"/>
            </a:pPr>
            <a:r>
              <a:t>two writes &gt;4h apart produce two sessions; two writes &lt;4h apart with no new_session flag produce one); snippet immutability after session creation; chat_sessions/chat_messages cascade-delete on profile delete (extends the existing FK-cascade check, §7).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F12 hardened auth suite — architecture confirmation (Increment 6, solutio…</a:t>
            </a:r>
          </a:p>
        </p:txBody>
      </p:sp>
      <p:sp>
        <p:nvSpPr>
          <p:cNvPr id="3" name="Content Placeholder 2"/>
          <p:cNvSpPr>
            <a:spLocks noGrp="1"/>
          </p:cNvSpPr>
          <p:nvPr>
            <p:ph idx="1"/>
          </p:nvPr>
        </p:nvSpPr>
        <p:spPr/>
        <p:txBody>
          <a:bodyPr wrap="square"/>
          <a:lstStyle/>
          <a:p>
            <a:pPr lvl="1">
              <a:defRPr sz="1300"/>
            </a:pPr>
            <a:r>
              <a:t>Confirmation pass on SECURITY_KB.md §7's schema/route design, per §7.7's joint-presentation note. Checked against this project's established conventions: the Store[T] interface discipline (§0), the SQLite schema/ cascade conventions (§3), and the most recent precedent, chat_sessions/ chat_messages (§10.1). No scope re…</a:t>
            </a:r>
          </a:p>
          <a:p>
            <a:pPr>
              <a:defRPr b="1" sz="1600"/>
            </a:pPr>
            <a:r>
              <a:t>11.1 Id conventions — confirmed for the two new tables; one flag on sessions.id</a:t>
            </a:r>
          </a:p>
          <a:p>
            <a:pPr lvl="1">
              <a:defRPr sz="1300"/>
            </a:pPr>
            <a:r>
              <a:t>**password_reset_tokens.id / recovery_codes.id — confirmed, plain</a:t>
            </a:r>
          </a:p>
          <a:p>
            <a:pPr lvl="1">
              <a:defRPr sz="1300"/>
            </a:pPr>
            <a:r>
              <a:t>INTEGER PRIMARY KEY AUTOINCREMENT is correct, no conflict. This matches the tier-1 convention §10.1 established for chat_sessions/chat_messages: plain autoincrement is correct whenever a row is reachable only via an authenticated, scoped route and its id never doubles as a filesystem path or other externally-meaningfu…</a:t>
            </a:r>
          </a:p>
          <a:p>
            <a:pPr lvl="1">
              <a:defRPr sz="1300"/>
            </a:pPr>
            <a:r>
              <a:t>**sessions.id TEXT (uuid4), added by SECURITY_KB §7.4 — flagged, resolved</a:t>
            </a:r>
          </a:p>
          <a:p>
            <a:pPr lvl="1">
              <a:defRPr sz="1300"/>
            </a:pPr>
            <a:r>
              <a:t>below in §11.1a.** SECURITY_KB justified this as "non-enumerable, same reasoning as photo_meta.id," but that reasoning does not actually transfer: photo_meta.id's uuid4 requirement is narrowly about naming a file on disk outside the authz layer. sessions.id is exposed only through authenticated, self-scoped routes (GE…</a:t>
            </a:r>
          </a:p>
          <a:p>
            <a:pPr lvl="1">
              <a:defRPr sz="1300"/>
            </a:pPr>
            <a:r>
              <a:t>§11.1a Resolution (orchestrator + security-architect design intent, 2026-07-12): keep sessions.id TEXT (uuid4), overriding strict adherence to the chat_sessions.id precedent, for one stated reason beyond the photo_meta.id analogy: session rows sit adjacent to authentication material (token_hash) in a way chat_sessions…</a:t>
            </a:r>
          </a:p>
          <a:p>
            <a:pPr>
              <a:defRPr b="1" sz="1600"/>
            </a:pPr>
            <a:r>
              <a:t>11.2 Store-class organization — apply the ChatSessionStore pattern, not raw SQL in routes</a:t>
            </a:r>
          </a:p>
          <a:p>
            <a:pPr lvl="1">
              <a:defRPr sz="1300"/>
            </a:pPr>
            <a:r>
              <a:t>SECURITY_KB §7 describes route bodies in query-shorthand (e.g. UPDATE users SET digest_opt_in...-style descriptions inherited from §1.7's unsubscribe precedent) without specifying store-class shape for the three new schema surfaces. Confirmed: these should follow the ChatSessionStore class pattern (§10.1), each with n…</a:t>
            </a:r>
          </a:p>
          <a:p>
            <a:pPr lvl="1">
              <a:defRPr sz="1300"/>
            </a:pPr>
            <a:r>
              <a:t>PasswordResetTokenStore: create(user_id) (invalidating any outstanding</a:t>
            </a:r>
          </a:p>
          <a:p>
            <a:pPr lvl="1">
              <a:defRPr sz="1300"/>
            </a:pPr>
            <a:r>
              <a:t>token first, per §7.2), get_by_token_hash, mark_used.</a:t>
            </a:r>
          </a:p>
          <a:p>
            <a:pPr lvl="1">
              <a:defRPr sz="1300"/>
            </a:pPr>
            <a:r>
              <a:t>RecoveryCodeStore: create_batch(user_id, codes), verify_and_consume,</a:t>
            </a:r>
          </a:p>
          <a:p>
            <a:pPr lvl="1">
              <a:defRPr sz="1300"/>
            </a:pPr>
            <a:r>
              <a:t>delete_all_for_user.</a:t>
            </a:r>
          </a:p>
          <a:p>
            <a:pPr lvl="1">
              <a:defRPr sz="1300"/>
            </a:pPr>
            <a:r>
              <a:t>SessionStore (extends the existing sessions handling): list_for_user,</a:t>
            </a:r>
          </a:p>
          <a:p>
            <a:pPr lvl="1">
              <a:defRPr sz="1300"/>
            </a:pPr>
            <a:r>
              <a:t>delete(id, user_id) (self-scoped, cross-user = 404 per §1.1), delete_all_for_user(user_id, except_id=None) — one method, parameterized, rather than separate near-duplicate "delete all" vs. "delete all but current" implementations, since §7.4's reset-vs-change-password distinction (delete-all vs. delete-all-but-current…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F12 hardened auth suite — architecture confirmation (Increment 6, solutio… (cont'd 2)</a:t>
            </a:r>
          </a:p>
        </p:txBody>
      </p:sp>
      <p:sp>
        <p:nvSpPr>
          <p:cNvPr id="3" name="Content Placeholder 2"/>
          <p:cNvSpPr>
            <a:spLocks noGrp="1"/>
          </p:cNvSpPr>
          <p:nvPr>
            <p:ph idx="1"/>
          </p:nvPr>
        </p:nvSpPr>
        <p:spPr/>
        <p:txBody>
          <a:bodyPr wrap="square"/>
          <a:lstStyle/>
          <a:p>
            <a:pPr>
              <a:defRPr b="1" sz="1600"/>
            </a:pPr>
            <a:r>
              <a:t>11.3 FK/cascade — confirmed, no concern</a:t>
            </a:r>
          </a:p>
          <a:p>
            <a:pPr lvl="1">
              <a:defRPr sz="1300"/>
            </a:pPr>
            <a:r>
              <a:t>password_reset_tokens.user_id and recovery_codes.user_id, both FK→users ON DELETE CASCADE — confirmed consistent with §3/§10.1's hard-delete discipline (user delete, if it ever ships, cleanly cascades both new tables with no orphaned rows).</a:t>
            </a:r>
          </a:p>
          <a:p>
            <a:pPr>
              <a:defRPr b="1" sz="1600"/>
            </a:pPr>
            <a:r>
              <a:t>11.4 Indexes — two minor, non-blocking additions recommended</a:t>
            </a:r>
          </a:p>
          <a:p>
            <a:pPr lvl="1">
              <a:defRPr sz="1300"/>
            </a:pPr>
            <a:r>
              <a:t>Not called out in SECURITY_KB §7; cheap to add now while schema.sql is being written, same discipline as §10.1's explicit chat_sessions/ chat_messages indexes:</a:t>
            </a:r>
          </a:p>
          <a:p>
            <a:pPr lvl="1">
              <a:defRPr sz="1300"/>
            </a:pPr>
            <a:r>
              <a:t>password_reset_tokens(user_id) — supports the "invalidate any</a:t>
            </a:r>
          </a:p>
          <a:p>
            <a:pPr lvl="1">
              <a:defRPr sz="1300"/>
            </a:pPr>
            <a:r>
              <a:t>outstanding token for this user" lookup on every new reset request.</a:t>
            </a:r>
          </a:p>
          <a:p>
            <a:pPr lvl="1">
              <a:defRPr sz="1300"/>
            </a:pPr>
            <a:r>
              <a:t>recovery_codes(user_id) — supports lookup during TOTP-code verification</a:t>
            </a:r>
          </a:p>
          <a:p>
            <a:pPr lvl="1">
              <a:defRPr sz="1300"/>
            </a:pPr>
            <a:r>
              <a:t>and delete_all_for_user on disable.</a:t>
            </a:r>
          </a:p>
          <a:p>
            <a:pPr lvl="1">
              <a:defRPr sz="1300"/>
            </a:pPr>
            <a:r>
              <a:t>sessions(user_id) — supports GET /auth/sessions' listing query, if not</a:t>
            </a:r>
          </a:p>
          <a:p>
            <a:pPr lvl="1">
              <a:defRPr sz="1300"/>
            </a:pPr>
            <a:r>
              <a:t>already present from the pre-F12 sessions design (ARCHITECTURE_KB §3 didn't specify one).</a:t>
            </a:r>
          </a:p>
          <a:p>
            <a:pPr lvl="1">
              <a:defRPr sz="1300"/>
            </a:pPr>
            <a:r>
              <a:t>None of these are correctness issues at this project's scale (matches §10.6's "prove the simple case first" precedent) — flagged as cheap schema.sql additions, not a gate condition.</a:t>
            </a:r>
          </a:p>
          <a:p>
            <a:pPr>
              <a:defRPr b="1" sz="1600"/>
            </a:pPr>
            <a:r>
              <a:t>11.5 TOTP secret encryption reuse — confirmed</a:t>
            </a:r>
          </a:p>
          <a:p>
            <a:pPr lvl="1">
              <a:defRPr sz="1300"/>
            </a:pPr>
            <a:r>
              <a:t>totp_secret_enc reusing the existing Fernet key (crypto.py, §2.1 of SECURITY_KB) rather than introducing a second symmetric key: confirmed correct, no new key-management surface, consistent with this project's "no new operational surface" instinct already applied to .env secrets-handling throughout (§5.8, §2.5).</a:t>
            </a:r>
          </a:p>
          <a:p>
            <a:pPr>
              <a:defRPr b="1" sz="1600"/>
            </a:pPr>
            <a:r>
              <a:t>11.6 Overall verdict</a:t>
            </a:r>
          </a:p>
          <a:p>
            <a:pPr lvl="1">
              <a:defRPr sz="1300"/>
            </a:pPr>
            <a:r>
              <a:t>Confirmed, fit for Code to start. §11.1's sessions.id type question is resolved in §11.1a (keep uuid4, stated reason recorded). Everything else in SECURITY_KB §7's schema (id conventions on the two brand-new tables, FK/cascade shape, encryption-key reuse) is consistent with this project's established conventions with…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a:t>
            </a:r>
          </a:p>
        </p:txBody>
      </p:sp>
      <p:sp>
        <p:nvSpPr>
          <p:cNvPr id="3" name="Content Placeholder 2"/>
          <p:cNvSpPr>
            <a:spLocks noGrp="1"/>
          </p:cNvSpPr>
          <p:nvPr>
            <p:ph idx="1"/>
          </p:nvPr>
        </p:nvSpPr>
        <p:spPr/>
        <p:txBody>
          <a:bodyPr wrap="square"/>
          <a:lstStyle/>
          <a:p>
            <a:pPr lvl="1">
              <a:defRPr sz="1300"/>
            </a:pPr>
            <a:r>
              <a:t>Designed against FEATURES.md's F17 entry and UX_KB.md §12 (Experience Design, approved as this feature's spec) in full. Checked against this project's established conventions: Store[T] interface discipline (§0), SQLite schema/cascade conventions (§3), the tier-1/tier-2 id convention (§3, reconfirmed §10.1/§11.1), Fern…</a:t>
            </a:r>
          </a:p>
          <a:p>
            <a:pPr>
              <a:defRPr b="1" sz="1600"/>
            </a:pPr>
            <a:r>
              <a:t>12.0 Component map addition</a:t>
            </a:r>
          </a:p>
          <a:p>
            <a:pPr lvl="1">
              <a:defRPr sz="1100">
                <a:solidFill>
                  <a:srgbClr val="393939"/>
                </a:solidFill>
                <a:latin typeface="Consolas"/>
              </a:defRPr>
            </a:pPr>
            <a:r>
              <a:t>dev/backend/app/ google_photos.py — NEW: OAuth client (authz-code+PKCE, token exchange/refresh) + Picker API wrapper + GooglePhotosConnectionStore/OAuthStateStore routes/google_photos.py — NEW: connect/callback/disconnect/status, picker-session, and import ro…</a:t>
            </a:r>
          </a:p>
          <a:p>
            <a:pPr lvl="1">
              <a:defRPr sz="1300"/>
            </a:pPr>
            <a:r>
              <a:t>google_photos.py has no import path into llm.py/prompts.py/ guardrails.py, verified by the same static-import-graph check §6.3/§7 already runs for photos.py's isolation — this is a structural absence of the capability, not a checked rule, the same category of control already established for the rest of the photo pipel…</a:t>
            </a:r>
          </a:p>
          <a:p>
            <a:pPr>
              <a:defRPr b="1" sz="1600"/>
            </a:pPr>
            <a:r>
              <a:t>12.1 Scope framing carried forward from UX_KB §12.1</a:t>
            </a:r>
          </a:p>
          <a:p>
            <a:pPr lvl="1">
              <a:defRPr sz="1300"/>
            </a:pPr>
            <a:r>
              <a:t>Confirmed, no architecture objection. UX_KB §12.1's "connection may persist, no background sync/polling/automatic import ever runs" is the load-bearing constraint this entire design is built to: there is deliberately no cron job, no scheduler.py registration, no APScheduler job for this feature (contrast with F8's dig…</a:t>
            </a:r>
          </a:p>
          <a:p>
            <a:pPr>
              <a:defRPr b="1" sz="1600"/>
            </a:pPr>
            <a:r>
              <a:t>12.2 OAuth flow — server-side, authorization-code + PKCE</a:t>
            </a:r>
          </a:p>
          <a:p>
            <a:pPr lvl="1">
              <a:defRPr sz="1300"/>
            </a:pPr>
            <a:r>
              <a:t>Decision: full-page redirect (matches UX_KB §12.3), backend-driven exchange, PKCE required even though this is a confidential (server-side) client — PKCE is not strictly required for a server-side client holding a client secret, but costs nothing extra to add and closes the authorization-code-interception class of att…</a:t>
            </a:r>
          </a:p>
          <a:p>
            <a:pPr lvl="1">
              <a:defRPr sz="1300"/>
            </a:pPr>
            <a:r>
              <a:t>Routes (new routes/google_photos.py; all four require an authenticated caregiver session — Depends(get_current_user), the same per-user dependency /auth/me already uses, not just get_current_family, since the connection is per-caregiver per UX_KB §12.2):</a:t>
            </a:r>
          </a:p>
          <a:p>
            <a:pPr lvl="1">
              <a:defRPr sz="1300"/>
            </a:pPr>
            <a:r>
              <a:t>GET /auth/google-photos/connect — generates state</a:t>
            </a:r>
          </a:p>
          <a:p>
            <a:pPr lvl="1">
              <a:defRPr sz="1300"/>
            </a:pPr>
            <a:r>
              <a:t>(secrets.token_urlsafe(32), mirroring session/invite/reset-token entropy) and a PKCE code_verifier (secrets.token_urlsafe(64), code_challenge = base64url(sha256(code_verifier)), S256 method). Persists a row keyed by sha256(state) (§12.4's google_oauth_states table — hashed at rest, same discipline as session/reset tok…</a:t>
            </a:r>
          </a:p>
          <a:p>
            <a:pPr lvl="1">
              <a:defRPr sz="1300"/>
            </a:pPr>
            <a:r>
              <a:t>GET /auth/google-photos/callback?code=...&amp;state=... — looks up</a:t>
            </a:r>
          </a:p>
          <a:p>
            <a:pPr lvl="1">
              <a:defRPr sz="1300"/>
            </a:pPr>
            <a:r>
              <a:t>sha256(state) in google_oauth_states, rejects (redirect to Settings with a generic error query param, never raw OAuth/HTTP error text per UX_KB §12.3) if missing/expired (10-minute TTL) or if the row's user_id doesn't match the current session's user — this is the CSRF protection: an attacker cannot forge a callback f…</a:t>
            </a:r>
          </a:p>
          <a:p>
            <a:pPr lvl="1">
              <a:defRPr sz="1300"/>
            </a:pPr>
            <a:r>
              <a:t>POST /auth/google-photos/disconnect — best-effort calls Google's</a:t>
            </a:r>
          </a:p>
          <a:p>
            <a:pPr lvl="1">
              <a:defRPr sz="1300"/>
            </a:pPr>
            <a:r>
              <a:t>token-revocation endpoint (POST https://oauth2.googleapis.com/revoke?token=...) with the refresh token, then deletes the google_photos_connections row regardless of whether the revoke call succeeds (a caregiver's "Disconnect" click must not be blocked by a flaky third-party call — the row deletion is what actually mat…</a:t>
            </a:r>
          </a:p>
          <a:p>
            <a:pPr lvl="1">
              <a:defRPr sz="1300"/>
            </a:pPr>
            <a:r>
              <a:t>GET /auth/google-photos/status — returns `{connected: bool,</a:t>
            </a:r>
          </a:p>
          <a:p>
            <a:pPr lvl="1">
              <a:defRPr sz="1300"/>
            </a:pPr>
            <a:r>
              <a:t>google_account_email: str | null}` for the Settings card (UX_KB §12.2's not-connected/connected states). No token material in the response body, ever.</a:t>
            </a:r>
          </a:p>
          <a:p>
            <a:pPr lvl="1">
              <a:defRPr sz="1300"/>
            </a:pPr>
            <a:r>
              <a:t>Rate limiting: /connect and /callback reuse the existing in-process fixed-window limiter (check_rate_limit, §Increment-3 judgment call 6) at the same class of limit already applied to /digest/unsubscribe (an unauthenticated-adjacent, write-triggering route) — flagged for security-architect to confirm the exact rate, 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2)</a:t>
            </a:r>
          </a:p>
        </p:txBody>
      </p:sp>
      <p:sp>
        <p:nvSpPr>
          <p:cNvPr id="3" name="Content Placeholder 2"/>
          <p:cNvSpPr>
            <a:spLocks noGrp="1"/>
          </p:cNvSpPr>
          <p:nvPr>
            <p:ph idx="1"/>
          </p:nvPr>
        </p:nvSpPr>
        <p:spPr/>
        <p:txBody>
          <a:bodyPr wrap="square"/>
          <a:lstStyle/>
          <a:p>
            <a:pPr>
              <a:defRPr b="1" sz="1600"/>
            </a:pPr>
            <a:r>
              <a:t>12.3 Scope minimization</a:t>
            </a:r>
          </a:p>
          <a:p>
            <a:pPr lvl="1">
              <a:defRPr sz="1300"/>
            </a:pPr>
            <a:r>
              <a:t>Verification addendum (orchestrator, WebSearch, 2026-07-12) — resolves the flag below for Code-gate purposes:</a:t>
            </a:r>
          </a:p>
          <a:p>
            <a:pPr lvl="1">
              <a:defRPr sz="1300"/>
            </a:pPr>
            <a:r>
              <a:t>Scope string confirmed current and correct as named:</a:t>
            </a:r>
          </a:p>
          <a:p>
            <a:pPr lvl="1">
              <a:defRPr sz="1300"/>
            </a:pPr>
            <a:r>
              <a:t>https://www.googleapis.com/auth/photospicker.mediaitems.readonly is the documented scope for sessions.create and mediaItems.list (Google Photos APIs — Authorization scopes, sessions.create reference). No code-agent action needed beyond using this exact string.</a:t>
            </a:r>
          </a:p>
          <a:p>
            <a:pPr lvl="1">
              <a:defRPr sz="1300"/>
            </a:pPr>
            <a:r>
              <a:t>OAuth app verification: **confirmed required before production/</a:t>
            </a:r>
          </a:p>
          <a:p>
            <a:pPr lvl="1">
              <a:defRPr sz="1300"/>
            </a:pPr>
            <a:r>
              <a:t>real-user use — Google Photos API scopes are in the sensitive/restricted category, requiring formal review (explanation of use + a demo video of the OAuth flow) before an app can be published from "Testing" to "Production" (Restricted scope verification, Sensitive scope verification). Not a blocker for this project's…</a:t>
            </a:r>
          </a:p>
          <a:p>
            <a:pPr lvl="1">
              <a:defRPr sz="1300"/>
            </a:pPr>
            <a:r>
              <a:t>Sources: Authorization scopes, sessions.create, Restricted scope verification, Sensitive scope verification.</a:t>
            </a:r>
          </a:p>
          <a:p>
            <a:pPr lvl="1">
              <a:defRPr sz="1300"/>
            </a:pPr>
            <a:r>
              <a:t>Decision: request the narrowest scope the Picker flow needs — https://www.googleapis.com/auth/photospicker.mediaitems.readonly — never photoslibrary.readonly or any Photos Library API scope, per UX_KB §12's explicit "picker-based selection, never library-wide access" requirement and INDUSTRY_KB §2.2. This scope grants…</a:t>
            </a:r>
          </a:p>
          <a:p>
            <a:pPr lvl="1">
              <a:defRPr sz="1300"/>
            </a:pPr>
            <a:r>
              <a:t>Explicit verification flag (per task item 7, restated formally here): the exact current scope string, its exact Picker-session/media-item API endpoint shapes, whether the (now-deprecated-for-broad-access) Photos Library API's readonly scope has been fully replaced by this picker-specific scope for all account types, a…</a:t>
            </a:r>
          </a:p>
          <a:p>
            <a:pPr>
              <a:defRPr b="1" sz="1600"/>
            </a:pPr>
            <a:r>
              <a:t>12.4 Data model</a:t>
            </a:r>
          </a:p>
          <a:p>
            <a:pPr lvl="1">
              <a:defRPr sz="1100">
                <a:solidFill>
                  <a:srgbClr val="393939"/>
                </a:solidFill>
                <a:latin typeface="Consolas"/>
              </a:defRPr>
            </a:pPr>
            <a:r>
              <a:t>CREATE TABLE google_oauth_states ( state_hash TEXT PRIMARY KEY, -- SHA-256 of the raw state param user_id INTEGER NOT NULL REFERENCES users(id) ON DELETE CASCADE, code_verifier TEXT NOT NULL, -- PKCE verifier; not independently -- exploitable without the -- o…</a:t>
            </a:r>
          </a:p>
          <a:p>
            <a:pPr lvl="1">
              <a:defRPr sz="1300"/>
            </a:pPr>
            <a:r>
              <a:t>Id-tier conventions, verified against §3/§10.1/§11.1 rather than reinvented:</a:t>
            </a:r>
          </a:p>
          <a:p>
            <a:pPr lvl="1">
              <a:defRPr sz="1300"/>
            </a:pPr>
            <a:r>
              <a:t>**google_photos_connections.id — plain INTEGER AUTOINCREMENT,</a:t>
            </a:r>
          </a:p>
          <a:p>
            <a:pPr lvl="1">
              <a:defRPr sz="1300"/>
            </a:pPr>
            <a:r>
              <a:t>tier-1.** Reachable only via authenticated, self-scoped routes (/auth/google-photos/status, internal lookups by user_id); never a filesystem path, never independently security-bearing (the sensitive material is access_token_enc/refresh_token_enc, not id) — exactly the bar §11.1 set for password_reset_tokens.id/recover…</a:t>
            </a:r>
          </a:p>
          <a:p>
            <a:pPr lvl="1">
              <a:defRPr sz="1300"/>
            </a:pPr>
            <a:r>
              <a:t>**google_oauth_states uses a hashed high-entropy value as its primary</a:t>
            </a:r>
          </a:p>
          <a:p>
            <a:pPr lvl="1">
              <a:defRPr sz="1300"/>
            </a:pPr>
            <a:r>
              <a:t>key (state_hash), not a synthetic id.** This mirrors sessions.token_hash/password_reset_tokens' hash-at-rest discipline exactly (§7.2-class reasoning) rather than invites.code's plaintext-primary-key pattern — the state parameter round-trips through a URL an attacker could plausibly intercept via referrer/logs during…</a:t>
            </a:r>
          </a:p>
          <a:p>
            <a:pPr lvl="1">
              <a:defRPr sz="1300"/>
            </a:pPr>
            <a:r>
              <a:t>**photo_meta.content_hash/import_source — additive nullable columns</a:t>
            </a:r>
          </a:p>
          <a:p>
            <a:pPr lvl="1">
              <a:defRPr sz="1300"/>
            </a:pPr>
            <a:r>
              <a:t>on the existing tier-2 (uuid4) photo_meta table, no change to photo_meta.id's existing convention.** Existing (pre-F17) photo rows simply carry content_hash = NULL and are never backfilled — consistent with this project's existing precedent for additive-nullable-column gaps (HEIC's photo_exif_strip_failed case, §Incre…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3)</a:t>
            </a:r>
          </a:p>
        </p:txBody>
      </p:sp>
      <p:sp>
        <p:nvSpPr>
          <p:cNvPr id="3" name="Content Placeholder 2"/>
          <p:cNvSpPr>
            <a:spLocks noGrp="1"/>
          </p:cNvSpPr>
          <p:nvPr>
            <p:ph idx="1"/>
          </p:nvPr>
        </p:nvSpPr>
        <p:spPr/>
        <p:txBody>
          <a:bodyPr wrap="square"/>
          <a:lstStyle/>
          <a:p>
            <a:pPr lvl="1">
              <a:defRPr sz="1300"/>
            </a:pPr>
            <a:r>
              <a:t>No import_batches/import_jobs table — see §12.7.</a:t>
            </a:r>
          </a:p>
          <a:p>
            <a:pPr>
              <a:defRPr b="1" sz="1600"/>
            </a:pPr>
            <a:r>
              <a:t>12.5 Picker hand-off mechanism</a:t>
            </a:r>
          </a:p>
          <a:p>
            <a:pPr lvl="1">
              <a:defRPr sz="1300"/>
            </a:pPr>
            <a:r>
              <a:t>Decision: the Google-issued media-item identifier and its download baseUrl never reach the browser at all. The frontend only ever talks to this app's own backend; the backend is the sole holder of the access token and therefore the sole party capable of resolving a picker selection into actual bytes — this satisfies "…</a:t>
            </a:r>
          </a:p>
          <a:p>
            <a:pPr lvl="1">
              <a:defRPr sz="1300"/>
            </a:pPr>
            <a:r>
              <a:t>Three backend routes realize UX_KB §12.4's three-part flow (intro sheet → Google's black-box picker → import review):</a:t>
            </a:r>
          </a:p>
          <a:p>
            <a:pPr lvl="1">
              <a:defRPr sz="1300"/>
            </a:pPr>
            <a:r>
              <a:t>POST /profiles/{id}/google-photos/picker-sessions — confirms the</a:t>
            </a:r>
          </a:p>
          <a:p>
            <a:pPr lvl="1">
              <a:defRPr sz="1300"/>
            </a:pPr>
            <a:r>
              <a:t>caller's session belongs to a family that has access to profile id (family-scoping check, same 404-not-403-on-cross-family pattern as every other family-scoped route, §2.3/§10.8). Performs the lazy-refresh check (§12.2's access_token_expires_at; if expired, POST https://oauth2.googleapis.com/token with grant_type=refr…</a:t>
            </a:r>
          </a:p>
          <a:p>
            <a:pPr lvl="1">
              <a:defRPr sz="1300"/>
            </a:pPr>
            <a:r>
              <a:t>GET /profiles/{id}/google-photos/picker-sessions/{picker_session_id}</a:t>
            </a:r>
          </a:p>
          <a:p>
            <a:pPr lvl="1">
              <a:defRPr sz="1300"/>
            </a:pPr>
            <a:r>
              <a:t>— proxies Google's session-status check (mediaItemsSet: bool), polled by the frontend while the intro/waiting state is shown. No new DB table needed — Google's own Picker API holds session state server-side on its end; this route is a thin authenticated proxy, not a second source of truth.</a:t>
            </a:r>
          </a:p>
          <a:p>
            <a:pPr lvl="1">
              <a:defRPr sz="1300"/>
            </a:pPr>
            <a:r>
              <a:t>GET /profiles/{id}/google-photos/picker-sessions/{picker_session_id}/preview</a:t>
            </a:r>
          </a:p>
          <a:p>
            <a:pPr lvl="1">
              <a:defRPr sz="1300"/>
            </a:pPr>
            <a:r>
              <a:t>— called once mediaItemsSet is true, i.e. exactly when UX_KB §12.4's import-review step needs to render. For each item Google reports as selected: fetches the actual bytes server-side (Google's baseUrl + access token, download parameter for original quality), computes content_hash (§12.6), checks it against photo_meta…</a:t>
            </a:r>
          </a:p>
          <a:p>
            <a:pPr lvl="1">
              <a:defRPr sz="1300"/>
            </a:pPr>
            <a:r>
              <a:t>POST /profiles/{id}/photos/import-from-google — body</a:t>
            </a:r>
          </a:p>
          <a:p>
            <a:pPr lvl="1">
              <a:defRPr sz="1300"/>
            </a:pPr>
            <a:r>
              <a:t>{picker_session_id, items: [{google_media_item_id, skip: bool}]} (the caregiver's final selection + duplicate-skip toggles from the review screen). Backend re-fetches each non-skipped item's bytes from Google (a second fetch — see §12.7's stated trade-off), and hands them into the existing photos.py upload path unchan…</a:t>
            </a:r>
          </a:p>
          <a:p>
            <a:pPr>
              <a:defRPr b="1" sz="1600"/>
            </a:pPr>
            <a:r>
              <a:t>12.6 Duplicate detection</a:t>
            </a:r>
          </a:p>
          <a:p>
            <a:pPr lvl="1">
              <a:defRPr sz="1300"/>
            </a:pPr>
            <a:r>
              <a:t>Decision: SHA-256 of normalized image bytes, per-child scope, computed at both preview (§12.5 step 3) and confirm (§12.5 step 4) time — deliberately simple, stated trade-off named explicitly rather than hidden.</a:t>
            </a:r>
          </a:p>
          <a:p>
            <a:pPr lvl="1">
              <a:defRPr sz="1300"/>
            </a:pPr>
            <a:r>
              <a:t>Normalization, not raw-byte hashing: raw bytes hashed directly would</a:t>
            </a:r>
          </a:p>
          <a:p>
            <a:pPr lvl="1">
              <a:defRPr sz="1300"/>
            </a:pPr>
            <a:r>
              <a:t>fail to match a photo that was resaved/re-encoded/EXIF-touched between Google's copy and this app's stored copy (e.g. this app's own unconditional EXIF-strip step, §12.5 step 4, changes the byte stream). content_hash is instead computed by decoding the image (Pillow, same dependency §4.3 already established), resizing…</a:t>
            </a:r>
          </a:p>
          <a:p>
            <a:pPr lvl="1">
              <a:defRPr sz="1300"/>
            </a:pPr>
            <a:r>
              <a:t>Named limitation, not fixed by design: this is a normalized</a:t>
            </a:r>
          </a:p>
          <a:p>
            <a:pPr lvl="1">
              <a:defRPr sz="1300"/>
            </a:pPr>
            <a:r>
              <a:t>exact-content hash, not a perceptual hash (pHash/dHash) — a genuinely different photo (different crop, different edit, a burst-shot near-duplicate) will not be flagged, only a true re-import of the same underlying image. This satisfies UX_KB §12.4's "content appears to match" bar for the common real-world case this fe…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4)</a:t>
            </a:r>
          </a:p>
        </p:txBody>
      </p:sp>
      <p:sp>
        <p:nvSpPr>
          <p:cNvPr id="3" name="Content Placeholder 2"/>
          <p:cNvSpPr>
            <a:spLocks noGrp="1"/>
          </p:cNvSpPr>
          <p:nvPr>
            <p:ph idx="1"/>
          </p:nvPr>
        </p:nvSpPr>
        <p:spPr/>
        <p:txBody>
          <a:bodyPr wrap="square"/>
          <a:lstStyle/>
          <a:p>
            <a:pPr lvl="1">
              <a:defRPr sz="1300"/>
            </a:pPr>
            <a:r>
              <a:t>Scope: per-child (profile_id), not family-wide or global — matches</a:t>
            </a:r>
          </a:p>
          <a:p>
            <a:pPr lvl="1">
              <a:defRPr sz="1300"/>
            </a:pPr>
            <a:r>
              <a:t>the task's instruction and this project's existing scoping convention (photo_meta is already profile-scoped, §0/§3); the index (photo_meta(profile_id, content_hash)) makes the per-child lookup cheap without needing a separate dedicated table.</a:t>
            </a:r>
          </a:p>
          <a:p>
            <a:pPr lvl="1">
              <a:defRPr sz="1300"/>
            </a:pPr>
            <a:r>
              <a:t>Double-fetch trade-off, stated explicitly: computing the hash twice</a:t>
            </a:r>
          </a:p>
          <a:p>
            <a:pPr lvl="1">
              <a:defRPr sz="1300"/>
            </a:pPr>
            <a:r>
              <a:t>(preview + confirm, §12.5) means every imported photo is downloaded from Google twice. Accepted because (a) typical picker-session batch sizes are small (a handful of photos, not a bulk migration — this is a one-shot picker action, §12.1), (b) it avoids introducing any new server-side temporary-storage mechanism to br…</a:t>
            </a:r>
          </a:p>
          <a:p>
            <a:pPr>
              <a:defRPr b="1" sz="1600"/>
            </a:pPr>
            <a:r>
              <a:t>12.7 Failure / partial-failure handling — sync request/response, no job queue</a:t>
            </a:r>
          </a:p>
          <a:p>
            <a:pPr lvl="1">
              <a:defRPr sz="1300"/>
            </a:pPr>
            <a:r>
              <a:t>Decision: POST /profiles/{id}/photos/import-from-google is a single synchronous request that returns a full per-item results array. No job-queue/worker/background-task system is introduced for this feature — right-sized against UX_KB §12.5's own per-photo-status requirement, which a synchronous response satisfies dire…</a:t>
            </a:r>
          </a:p>
          <a:p>
            <a:pPr lvl="1">
              <a:defRPr sz="1300"/>
            </a:pPr>
            <a:r>
              <a:t>Per-item processing, per-item isolation: the route iterates selected</a:t>
            </a:r>
          </a:p>
          <a:p>
            <a:pPr lvl="1">
              <a:defRPr sz="1300"/>
            </a:pPr>
            <a:r>
              <a:t>items in a try/except per item — the same isolation pattern scheduler.py's per-user due-check loop already established (§5.3 step 3: one failure doesn't block the batch). For each item: fetch bytes → duplicate check (skip if caller marked skip: true or, defensively, if is_probable_duplicate was true and no explicit ov…</a:t>
            </a:r>
          </a:p>
          <a:p>
            <a:pPr lvl="1">
              <a:defRPr sz="1300"/>
            </a:pPr>
            <a:r>
              <a:t>Response shape:</a:t>
            </a:r>
          </a:p>
          <a:p>
            <a:pPr lvl="1">
              <a:defRPr sz="1100">
                <a:solidFill>
                  <a:srgbClr val="393939"/>
                </a:solidFill>
                <a:latin typeface="Consolas"/>
              </a:defRPr>
            </a:pPr>
            <a:r>
              <a:t>{ "results": [ {"google_media_item_id": "...", "status": "imported", "memory_id": 123, "photo_id": "uuid..."}, {"google_media_item_id": "...", "status": "skipped_duplicate"}, {"google_media_item_id": "...", "status": "failed", "error": "fetch_failed"} ] }</a:t>
            </a:r>
          </a:p>
          <a:p>
            <a:pPr lvl="1">
              <a:defRPr sz="1300"/>
            </a:pPr>
            <a:r>
              <a:t>This maps directly onto UX_KB §12.5's summary line, per-row tags, and scoped "Retry both failed photos" action — retry is a plain client-side concern (the frontend re-POSTs the same route with only the failed subset's google_media_item_ids), needing no server-side batch/job record to look anything up by.</a:t>
            </a:r>
          </a:p>
          <a:p>
            <a:pPr lvl="1">
              <a:defRPr sz="1300"/>
            </a:pPr>
            <a:r>
              <a:t>Why no job record is needed, stated explicitly (per task item 6): a</a:t>
            </a:r>
          </a:p>
          <a:p>
            <a:pPr lvl="1">
              <a:defRPr sz="1300"/>
            </a:pPr>
            <a:r>
              <a:t>job/batch table would exist to let a client check status *after* disconnecting and reconnecting later, or to support true background processing — neither applies here. The request is synchronous, the caregiver's browser is the client for the entire operation's lifetime (matching UX_KB §12.5's "transitions in place, no…</a:t>
            </a:r>
          </a:p>
          <a:p>
            <a:pPr lvl="1">
              <a:defRPr sz="1300"/>
            </a:pPr>
            <a:r>
              <a:t>Latency, stated as a trade-off: a multi-photo import blocks on N</a:t>
            </a:r>
          </a:p>
          <a:p>
            <a:pPr lvl="1">
              <a:defRPr sz="1300"/>
            </a:pPr>
            <a:r>
              <a:t>sequential (or bounded-concurrent — implementation detail, not an architecture decision) fetch+process cycles inside one HTTP request. Acceptable at this feature's actual scale (a picker session, not a bulk migration) and consistent with /chat's own already-accepted buffer-then-check latency trade-off (§6.1) — this pr…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5)</a:t>
            </a:r>
          </a:p>
        </p:txBody>
      </p:sp>
      <p:sp>
        <p:nvSpPr>
          <p:cNvPr id="3" name="Content Placeholder 2"/>
          <p:cNvSpPr>
            <a:spLocks noGrp="1"/>
          </p:cNvSpPr>
          <p:nvPr>
            <p:ph idx="1"/>
          </p:nvPr>
        </p:nvSpPr>
        <p:spPr/>
        <p:txBody>
          <a:bodyPr wrap="square"/>
          <a:lstStyle/>
          <a:p>
            <a:pPr>
              <a:defRPr b="1" sz="1600"/>
            </a:pPr>
            <a:r>
              <a:t>12.8 Lazy refresh, and the lapsed-connection case (flagged, not fully resolved)</a:t>
            </a:r>
          </a:p>
          <a:p>
            <a:pPr lvl="1">
              <a:defRPr sz="1300"/>
            </a:pPr>
            <a:r>
              <a:t>Refresh: lazy, confirmed per the task's recommendation. No cron/ background refresh job (§12.1). access_token_expires_at is checked at the start of POST .../picker-sessions (§12.5 step 1) and refreshed in-line if expired, using the stored (Fernet-decrypted) refresh_token. If Google's refresh response includes a new re…</a:t>
            </a:r>
          </a:p>
          <a:p>
            <a:pPr lvl="1">
              <a:defRPr sz="1300"/>
            </a:pPr>
            <a:r>
              <a:t>Lapsed/revoked connection — a real gap not covered by UX_KB §12.3's three named error states (cancel/network/token-exchange-failure), flagged rather than silently resolved: if a refresh attempt itself fails (invalid_grant, e.g. the caregiver revoked this app's access directly from their Google Account settings, entire…</a:t>
            </a:r>
          </a:p>
          <a:p>
            <a:pPr>
              <a:defRPr b="1" sz="1600"/>
            </a:pPr>
            <a:r>
              <a:t>12.9 Secrets</a:t>
            </a:r>
          </a:p>
          <a:p>
            <a:pPr lvl="1">
              <a:defRPr sz="1300"/>
            </a:pPr>
            <a:r>
              <a:t>GOOGLE_OAUTH_CLIENT_ID / GOOGLE_OAUTH_CLIENT_SECRET / GOOGLE_OAUTH_REDIRECT_URI in .env, following the exact existing pattern (PHOTO_ENCRYPTION_KEY/RESEND_API_KEY/LLM provider keys, §5.8, §2.5) — never committed, no new secret-handling mechanism introduced. Revisit trigger, inherited: before any non-local deployment,…</a:t>
            </a:r>
          </a:p>
          <a:p>
            <a:pPr>
              <a:defRPr b="1" sz="1600"/>
            </a:pPr>
            <a:r>
              <a:t>12.10 Test-gate ownership addition (extends §7)</a:t>
            </a:r>
          </a:p>
          <a:p>
            <a:pPr lvl="1">
              <a:defRPr sz="1300"/>
            </a:pPr>
            <a:r>
              <a:t>Contract tests: PhotoStore.create()'s pre/post-F17 shape is</a:t>
            </a:r>
          </a:p>
          <a:p>
            <a:pPr lvl="1">
              <a:defRPr sz="1300"/>
            </a:pPr>
            <a:r>
              <a:t>unchanged for native (non-import) callers — the content_hash/ import_source columns are additive-nullable and no existing call site needs to change; google_photos.py's token-refresh helper (mocked Google token endpoint — correct grant type, correct re-encryption, correct fallback when no rotated refresh token is retur…</a:t>
            </a:r>
          </a:p>
          <a:p>
            <a:pPr lvl="1">
              <a:defRPr sz="1300"/>
            </a:pPr>
            <a:r>
              <a:t>Design-conformance checks: static-import-graph check confirming</a:t>
            </a:r>
          </a:p>
          <a:p>
            <a:pPr lvl="1">
              <a:defRPr sz="1300"/>
            </a:pPr>
            <a:r>
              <a:t>google_photos.py/routes/google_photos.py have no import path into llm.py/prompts.py/guardrails.py (extends the existing §6.3/§7 isolation check to the new module); google_oauth_states rows are actually deleted on successful callback consumption (single-use, property test: replaying a consumed state is rejected); the C…</a:t>
            </a:r>
          </a:p>
          <a:p>
            <a:pPr lvl="1">
              <a:defRPr sz="1300"/>
            </a:pPr>
            <a:r>
              <a:t>Evidence recorded per-scenario in</a:t>
            </a:r>
          </a:p>
          <a:p>
            <a:pPr lvl="1">
              <a:defRPr sz="1300"/>
            </a:pPr>
            <a:r>
              <a:t>projects/little-milestones/test-evidence/, per test-agent's documented convention, same as every other increment.</a:t>
            </a:r>
          </a:p>
          <a:p>
            <a:pPr>
              <a:defRPr b="1" sz="1600"/>
            </a:pPr>
            <a:r>
              <a:t>12.11 Completeness check against this gate's mandate</a:t>
            </a:r>
          </a:p>
          <a:p>
            <a:pPr lvl="1">
              <a:defRPr sz="1300"/>
            </a:pPr>
            <a:r>
              <a:t>OAuth flow — designed (§12.2): server-side authz-code+PKCE, explicit</a:t>
            </a:r>
          </a:p>
          <a:p>
            <a:pPr lvl="1">
              <a:defRPr sz="1300"/>
            </a:pPr>
            <a:r>
              <a:t>route shapes, hashed-state CSRF protection, Fernet-encrypted per- caregiver token storage, lazy refresh (no cron), one named open gap (§12.8's lapsed-connection UX state).</a:t>
            </a:r>
          </a:p>
          <a:p>
            <a:pPr lvl="1">
              <a:defRPr sz="1300"/>
            </a:pPr>
            <a:r>
              <a:t>Scope minimization — the picker-specific readonly scope named as the</a:t>
            </a:r>
          </a:p>
          <a:p>
            <a:pPr lvl="1">
              <a:defRPr sz="1300"/>
            </a:pPr>
            <a:r>
              <a:t>design target, explicitly flagged as unverified pending a WebSearch-capable pass or human confirmation (§12.3) — this is the one item in this section solution-architect cannot sign off on with full confidence, stated plainly rather than guessed at.</a:t>
            </a:r>
          </a:p>
          <a:p>
            <a:pPr lvl="1">
              <a:defRPr sz="1300"/>
            </a:pPr>
            <a:r>
              <a:t>Picker hand-off — designed (§12.5): Google media-item ids/baseUrls/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6)</a:t>
            </a:r>
          </a:p>
        </p:txBody>
      </p:sp>
      <p:sp>
        <p:nvSpPr>
          <p:cNvPr id="3" name="Content Placeholder 2"/>
          <p:cNvSpPr>
            <a:spLocks noGrp="1"/>
          </p:cNvSpPr>
          <p:nvPr>
            <p:ph idx="1"/>
          </p:nvPr>
        </p:nvSpPr>
        <p:spPr/>
        <p:txBody>
          <a:bodyPr wrap="square"/>
          <a:lstStyle/>
          <a:p>
            <a:pPr lvl="1">
              <a:defRPr sz="1300"/>
            </a:pPr>
            <a:r>
              <a:t>access token never reach the browser; existing photos.py pipeline reused unchanged for validation/EXIF-strip/encryption.</a:t>
            </a:r>
          </a:p>
          <a:p>
            <a:pPr lvl="1">
              <a:defRPr sz="1300"/>
            </a:pPr>
            <a:r>
              <a:t>Duplicate detection — designed (§12.6): per-child SHA-256 of normalized</a:t>
            </a:r>
          </a:p>
          <a:p>
            <a:pPr lvl="1">
              <a:defRPr sz="1300"/>
            </a:pPr>
            <a:r>
              <a:t>bytes, named perceptual-hash limitation with a stated revisit trigger, double-fetch trade-off stated explicitly.</a:t>
            </a:r>
          </a:p>
          <a:p>
            <a:pPr lvl="1">
              <a:defRPr sz="1300"/>
            </a:pPr>
            <a:r>
              <a:t>Data model — designed (§12.4): two new tables</a:t>
            </a:r>
          </a:p>
          <a:p>
            <a:pPr lvl="1">
              <a:defRPr sz="1300"/>
            </a:pPr>
            <a:r>
              <a:t>(google_oauth_states, google_photos_connections) plus two additive nullable photo_meta columns; id-tier conventions reasoned against §3/§10.1/§11.1 rather than asserted; no import_batches table (§12.7).</a:t>
            </a:r>
          </a:p>
          <a:p>
            <a:pPr lvl="1">
              <a:defRPr sz="1300"/>
            </a:pPr>
            <a:r>
              <a:t>Failure/partial-failure handling — designed (§12.7): synchronous</a:t>
            </a:r>
          </a:p>
          <a:p>
            <a:pPr lvl="1">
              <a:defRPr sz="1300"/>
            </a:pPr>
            <a:r>
              <a:t>per-item results array, no job queue, explicit reasoning for why one isn't warranted at this feature's approved scope, latency trade-off named.</a:t>
            </a:r>
          </a:p>
          <a:p>
            <a:pPr lvl="1">
              <a:defRPr sz="1300"/>
            </a:pPr>
            <a:r>
              <a:t>API dependency risk — flagged explicitly and formally (§12.3, §12.8):</a:t>
            </a:r>
          </a:p>
          <a:p>
            <a:pPr lvl="1">
              <a:defRPr sz="1300"/>
            </a:pPr>
            <a:r>
              <a:t>scope name, Picker-session/media-item API shapes, consent-screen verification requirement, and refresh-token-rotation behavior are all unverified without web access; recommended as a concrete pre-Code-gate task, not guessed at.</a:t>
            </a:r>
          </a:p>
          <a:p>
            <a:pPr lvl="1">
              <a:defRPr sz="1300"/>
            </a:pPr>
            <a:r>
              <a:t>Cross-checked against INDUSTRY_KB §2.2 (third-party disclosure — UX_KB §12.2/§12.4's two disclosure touchpoints are a UX concern this section doesn't re-litigate; this section's job was ensuring the scope/data-flow those disclosures describe is actually true, which it is: read-only, picker-scoped, one-time copy, no on…</a:t>
            </a:r>
          </a:p>
          <a:p>
            <a:pPr lvl="1">
              <a:defRPr sz="1300"/>
            </a:pPr>
            <a:r>
              <a:t>No disagreement with UX_KB §12 identified — every UX_KB §12 flow (connect/settings entry, OAuth redirect, picker intro, import review with duplicate badges, progress/results) is directly supported by a corresponding backend route or existing-pipeline reuse above; the one new UI state this section surfaces (§12.8's lap…</a:t>
            </a:r>
          </a:p>
          <a:p>
            <a:pPr lvl="1">
              <a:defRPr sz="1300"/>
            </a:pPr>
            <a:r>
              <a:t>Status: pending security-architect joint review and human approval, same as every other Architecture-gate item. Specific items flagged for security-architect: the exact rate-limit values on /connect//callback (§12.2), whether google_media_item_id needs a signed-opaque wrapper before reaching the browser or plaintext p…</a:t>
            </a:r>
          </a:p>
          <a:p>
            <a:pPr>
              <a:defRPr b="1" sz="1600"/>
            </a:pPr>
            <a:r>
              <a:t>12.12 Test-gate verification (solution-architect, 2026-07-13)</a:t>
            </a:r>
          </a:p>
          <a:p>
            <a:pPr lvl="1">
              <a:defRPr sz="1300"/>
            </a:pPr>
            <a:r>
              <a:t>Verification pass on code-agent's implementation (commits 8a76d55 backend, 0056069 frontend) against this section's design. Read in full: app/google_photos.py, app/routes/google_photos.py, app/db.py, app/photos.py. Result: PASS on all seven checked items — implementation matches design, no architectural defects found.</a:t>
            </a:r>
          </a:p>
          <a:p>
            <a:pPr lvl="1">
              <a:defRPr sz="1300"/>
            </a:pPr>
            <a:r>
              <a:t>Pipeline reuse (§12.5 step 4) — confirmed. routes/google_photos.py's</a:t>
            </a:r>
          </a:p>
          <a:p>
            <a:pPr lvl="1">
              <a:defRPr sz="1300"/>
            </a:pPr>
            <a:r>
              <a:t>import_from_google hands fetched bytes into the existing PhotoStore.create() (app/photos.py) unchanged, via two new optional kwargs (content_hash, import_source) rather than a parallel path. create()'s internal sequence (EXIF-strip → photo_theme.extract_accent → Fernet encrypt → write → insert row) is untouched and ru…</a:t>
            </a:r>
          </a:p>
          <a:p>
            <a:pPr lvl="1">
              <a:defRPr sz="1300"/>
            </a:pPr>
            <a:r>
              <a:t>No LLM import path — confirmed. Full read of both new modules found</a:t>
            </a:r>
          </a:p>
          <a:p>
            <a:pPr lvl="1">
              <a:defRPr sz="1300"/>
            </a:pPr>
            <a:r>
              <a:t>zero imports of app.llm, app.prompts, or app.guardrails — only app.crypto, app.auth, app.memories, app.photos, app.profiles. Matches §12.0's structural-isolation claim exactly.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F17 — Google Photos import: architecture design (Increment 7, solution-ar… (cont'd 7)</a:t>
            </a:r>
          </a:p>
        </p:txBody>
      </p:sp>
      <p:sp>
        <p:nvSpPr>
          <p:cNvPr id="3" name="Content Placeholder 2"/>
          <p:cNvSpPr>
            <a:spLocks noGrp="1"/>
          </p:cNvSpPr>
          <p:nvPr>
            <p:ph idx="1"/>
          </p:nvPr>
        </p:nvSpPr>
        <p:spPr/>
        <p:txBody>
          <a:bodyPr wrap="square"/>
          <a:lstStyle/>
          <a:p>
            <a:pPr lvl="1">
              <a:defRPr sz="1300"/>
            </a:pPr>
            <a:r>
              <a:t>Duplicate detection (§12.6) — confirmed. compute_content_hash()</a:t>
            </a:r>
          </a:p>
          <a:p>
            <a:pPr lvl="1">
              <a:defRPr sz="1300"/>
            </a:pPr>
            <a:r>
              <a:t>(app/photos.py) is Pillow-decode → RGB convert → resize to 256px-longest-side → PNG-encode → SHA-256, as designed. PhotoStore.find_by_content_hash(profile_id, content_hash) always includes profile_id in its WHERE clause with no variant that omits it — cross-child/cross-family matches are structurally impossible, not j…</a:t>
            </a:r>
          </a:p>
          <a:p>
            <a:pPr lvl="1">
              <a:defRPr sz="1300"/>
            </a:pPr>
            <a:r>
              <a:t>Data model (§12.4) — confirmed. db.py's `CREATE TABLE IF NOT</a:t>
            </a:r>
          </a:p>
          <a:p>
            <a:pPr lvl="1">
              <a:defRPr sz="1300"/>
            </a:pPr>
            <a:r>
              <a:t>EXISTS statements for google_oauth_states/google_photos_connections match the designed schema (names, columns, id-tier choices) exactly. The additive photo_meta.content_hash/import_source columns and their index are applied via _apply_incremental_migrations(), which checks PRAGMA table_info(photo_meta) before each ALT…</a:t>
            </a:r>
          </a:p>
          <a:p>
            <a:pPr lvl="1">
              <a:defRPr sz="1300"/>
            </a:pPr>
            <a:r>
              <a:t>Failure handling (§12.7) — confirmed. /import-from-google returns</a:t>
            </a:r>
          </a:p>
          <a:p>
            <a:pPr lvl="1">
              <a:defRPr sz="1300"/>
            </a:pPr>
            <a:r>
              <a:t>{"results": [{google_media_item_id, status, memory_id?, photo_id?, error?}]} exactly as designed (imported/skipped_duplicate/failed). Each item runs inside its own try/except (both the Google fetch and the Memory/Photo creation step) — one item's failure appends a "failed" result and continues the loop rather than abo…</a:t>
            </a:r>
          </a:p>
          <a:p>
            <a:pPr lvl="1">
              <a:defRPr sz="1300"/>
            </a:pPr>
            <a:r>
              <a:t>**Schema discrepancy (dedicated google_photos_connections table vs.</a:t>
            </a:r>
          </a:p>
          <a:p>
            <a:pPr lvl="1">
              <a:defRPr sz="1300"/>
            </a:pPr>
            <a:r>
              <a:t>security-architect's originally-sketched users columns) — confirmed built as solution-architect's §12.4 design specifies.** Already resolved in solution-architect's favor by the orchestrator (PROJECT_CONTEXT.md Decisions Log, 2026-07-12); no further resolution needed at this gate.</a:t>
            </a:r>
          </a:p>
          <a:p>
            <a:pPr lvl="1">
              <a:defRPr sz="1300"/>
            </a:pPr>
            <a:r>
              <a:t>**requests over httpx (code-agent's judgment call) — confirmed</a:t>
            </a:r>
          </a:p>
          <a:p>
            <a:pPr lvl="1">
              <a:defRPr sz="1300"/>
            </a:pPr>
            <a:r>
              <a:t>reasonable, not a design violation.** pyproject.toml lists requests&gt;=2.31 as a real production dependency; httpx&gt;=0.27 is listed only under [project.optional-dependencies].dev. This matches email_delivery.py's existing precedent (the project's one prior "call a real third-party HTTP API" example) exactly, introduces n…</a:t>
            </a:r>
          </a:p>
          <a:p>
            <a:pPr lvl="1">
              <a:defRPr sz="1300"/>
            </a:pPr>
            <a:r>
              <a:t>No architectural defects found. All four reviewed files implement §12 as designed with no parallel/duplicate storage or crypto mechanisms, no scope creep beyond the approved design, and idempotent migrations consistent with this project's established F12 precedent. Fit to proceed to the remainder of the Test gate.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&amp; Responsible-AI highlights (cross-referenced, full detail markdown-only)</a:t>
            </a:r>
          </a:p>
        </p:txBody>
      </p:sp>
      <p:sp>
        <p:nvSpPr>
          <p:cNvPr id="3" name="Content Placeholder 2"/>
          <p:cNvSpPr>
            <a:spLocks noGrp="1"/>
          </p:cNvSpPr>
          <p:nvPr>
            <p:ph idx="1"/>
          </p:nvPr>
        </p:nvSpPr>
        <p:spPr/>
        <p:txBody>
          <a:bodyPr wrap="square"/>
          <a:lstStyle/>
          <a:p>
            <a:pPr>
              <a:defRPr b="1" sz="1600"/>
            </a:pPr>
            <a:r>
              <a:t>Authentication &amp; photo encryption (SECURITY_KB.md §1-2)</a:t>
            </a:r>
          </a:p>
          <a:p>
            <a:pPr lvl="1">
              <a:defRPr sz="1300"/>
            </a:pPr>
            <a:r>
              <a:t>Argon2id password hashing, server-side sessions, HTTP-only SameSite=Lax cookies, owner/caregiver roles, cross-family access returns 404 (not 403).</a:t>
            </a:r>
          </a:p>
          <a:p>
            <a:pPr lvl="1">
              <a:defRPr sz="1300"/>
            </a:pPr>
            <a:r>
              <a:t>Photo bytes encrypted at rest (Fernet/AES, key from .env, never the repo), EXIF-GPS stripped unconditionally on every upload including HEIC, decrypt-on-serve only, no static file mount.</a:t>
            </a:r>
          </a:p>
          <a:p>
            <a:pPr>
              <a:defRPr b="1" sz="1600"/>
            </a:pPr>
            <a:r>
              <a:t>F12 hardened auth (SECURITY_KB.md §7, Increment 6)</a:t>
            </a:r>
          </a:p>
          <a:p>
            <a:pPr lvl="1">
              <a:defRPr sz="1300"/>
            </a:pPr>
            <a:r>
              <a:t>Self-service password reset (single-use, short-expiry, separate mechanism from the F8 unsubscribe token) and strictly per-user opt-in TOTP MFA, triggered by F17's third-party integration raising the threat model.</a:t>
            </a:r>
          </a:p>
          <a:p>
            <a:pPr>
              <a:defRPr b="1" sz="1600"/>
            </a:pPr>
            <a:r>
              <a:t>F17 Google Photos import (SECURITY_KB.md §8, RESPONSIBLE_AI_KB.md §8, Increment 7)</a:t>
            </a:r>
          </a:p>
          <a:p>
            <a:pPr lvl="1">
              <a:defRPr sz="1300"/>
            </a:pPr>
            <a:r>
              <a:t>Narrowest OAuth scope (photospicker.mediaitems.readonly, never library-wide access); persistent connection with zero background sync/polling — every Google API call happens inside a caregiver-initiated request.</a:t>
            </a:r>
          </a:p>
          <a:p>
            <a:pPr lvl="1">
              <a:defRPr sz="1300"/>
            </a:pPr>
            <a:r>
              <a:t>Imported photos flow through the identical EXIF-strip/encrypt/no-LLM-reachability pipeline as native uploads, plus one new import-boundary guardrail RESPONSIBLE_AI_KB.md §8.1 adds explicitly.</a:t>
            </a:r>
          </a:p>
          <a:p>
            <a:pPr>
              <a:defRPr b="1" sz="1600"/>
            </a:pPr>
            <a:r>
              <a:t>Output-side enforcement (RESPONSIBLE_AI_KB.md §3-5, cross-referenced in ARCHITECTURE_KB.md §6)</a:t>
            </a:r>
          </a:p>
          <a:p>
            <a:pPr lvl="1">
              <a:defRPr sz="1300"/>
            </a:pPr>
            <a:r>
              <a:t>guardrails.py is a post-generation, code-level backstop on every LLM-touching response path (R1 anxiety-framing check, R2 medical-deflection check) — not system-prompt instructions alone.</a:t>
            </a:r>
          </a:p>
          <a:p>
            <a:pPr lvl="1">
              <a:defRPr sz="1300"/>
            </a:pPr>
            <a:r>
              <a:t>No face processing and no AI training/ingestion of child photos anywhere in the codebase — a structural (static-import-graph-checked) absence of the capability, not a policy statement.</a:t>
            </a:r>
          </a:p>
          <a:p>
            <a:pPr>
              <a:defRPr b="1" sz="1600"/>
            </a:pPr>
            <a:r>
              <a:t>Not exported separately</a:t>
            </a:r>
          </a:p>
          <a:p>
            <a:pPr lvl="1">
              <a:defRPr sz="1300"/>
            </a:pPr>
            <a:r>
              <a:t>SECURITY_KB.md and RESPONSIBLE_AI_KB.md remain markdown-only in full — this slide is a curated cross-reference, not a substitute for either file.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60175" cy="548640"/>
          </a:xfrm>
          <a:prstGeom prst="rect">
            <a:avLst/>
          </a:prstGeom>
          <a:noFill/>
        </p:spPr>
        <p:txBody>
          <a:bodyPr wrap="none">
            <a:spAutoFit/>
          </a:bodyPr>
          <a:lstStyle/>
          <a:p>
            <a:pPr>
              <a:defRPr sz="2400" b="1">
                <a:solidFill>
                  <a:srgbClr val="1F3A5F"/>
                </a:solidFill>
              </a:defRPr>
            </a:pPr>
            <a:r>
              <a:t>Architecture Diagram — System Components &amp; Data Flow</a:t>
            </a:r>
          </a:p>
        </p:txBody>
      </p:sp>
      <p:sp>
        <p:nvSpPr>
          <p:cNvPr id="3" name="TextBox 2"/>
          <p:cNvSpPr txBox="1"/>
          <p:nvPr/>
        </p:nvSpPr>
        <p:spPr>
          <a:xfrm>
            <a:off x="365760" y="685800"/>
            <a:ext cx="11460175" cy="320040"/>
          </a:xfrm>
          <a:prstGeom prst="rect">
            <a:avLst/>
          </a:prstGeom>
          <a:noFill/>
        </p:spPr>
        <p:txBody>
          <a:bodyPr wrap="none">
            <a:spAutoFit/>
          </a:bodyPr>
          <a:lstStyle/>
          <a:p>
            <a:pPr>
              <a:defRPr sz="1100" i="1">
                <a:solidFill>
                  <a:srgbClr val="606060"/>
                </a:solidFill>
              </a:defRPr>
            </a:pPr>
            <a:r>
              <a:t>Derived from ARCHITECTURE_KB.md §0 (component map), §2 (auth), §3 (storage), §5 (email delivery), §6 (output enforcement), §12 (Google Photos import)</a:t>
            </a:r>
          </a:p>
        </p:txBody>
      </p:sp>
      <p:sp>
        <p:nvSpPr>
          <p:cNvPr id="4" name="Rounded Rectangle 3"/>
          <p:cNvSpPr/>
          <p:nvPr/>
        </p:nvSpPr>
        <p:spPr>
          <a:xfrm>
            <a:off x="4572000" y="1143000"/>
            <a:ext cx="3017520" cy="640080"/>
          </a:xfrm>
          <a:prstGeom prst="roundRect">
            <a:avLst/>
          </a:prstGeom>
          <a:solidFill>
            <a:srgbClr val="BFDBFE"/>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1100" b="1">
                <a:solidFill>
                  <a:srgbClr val="1A1A1A"/>
                </a:solidFill>
              </a:defRPr>
            </a:pPr>
            <a:r>
              <a:t>Next.js Frontend (Browser)</a:t>
            </a:r>
          </a:p>
          <a:p>
            <a:pPr algn="ctr">
              <a:defRPr sz="900" b="0">
                <a:solidFill>
                  <a:srgbClr val="1A1A1A"/>
                </a:solidFill>
              </a:defRPr>
            </a:pPr>
            <a:r>
              <a:t>chat / profiles / timeline / photos / auth UI</a:t>
            </a:r>
          </a:p>
        </p:txBody>
      </p:sp>
      <p:sp>
        <p:nvSpPr>
          <p:cNvPr id="5" name="Rounded Rectangle 4"/>
          <p:cNvSpPr/>
          <p:nvPr/>
        </p:nvSpPr>
        <p:spPr>
          <a:xfrm>
            <a:off x="4206240" y="2331720"/>
            <a:ext cx="3749039" cy="777240"/>
          </a:xfrm>
          <a:prstGeom prst="roundRect">
            <a:avLst/>
          </a:prstGeom>
          <a:solidFill>
            <a:srgbClr val="FDE68A"/>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1100" b="1">
                <a:solidFill>
                  <a:srgbClr val="1A1A1A"/>
                </a:solidFill>
              </a:defRPr>
            </a:pPr>
            <a:r>
              <a:t>FastAPI Backend</a:t>
            </a:r>
          </a:p>
          <a:p>
            <a:pPr algn="ctr">
              <a:defRPr sz="900" b="0">
                <a:solidFill>
                  <a:srgbClr val="1A1A1A"/>
                </a:solidFill>
              </a:defRPr>
            </a:pPr>
            <a:r>
              <a:t>main.py + routers (profiles, chat, memories,</a:t>
            </a:r>
          </a:p>
          <a:p>
            <a:pPr algn="ctr">
              <a:defRPr sz="900" b="0">
                <a:solidFill>
                  <a:srgbClr val="1A1A1A"/>
                </a:solidFill>
              </a:defRPr>
            </a:pPr>
            <a:r>
              <a:t>photos, digest, products, auth)</a:t>
            </a:r>
          </a:p>
        </p:txBody>
      </p:sp>
      <p:sp>
        <p:nvSpPr>
          <p:cNvPr id="6" name="Rounded Rectangle 5"/>
          <p:cNvSpPr/>
          <p:nvPr/>
        </p:nvSpPr>
        <p:spPr>
          <a:xfrm>
            <a:off x="320040" y="2377440"/>
            <a:ext cx="1828800" cy="685800"/>
          </a:xfrm>
          <a:prstGeom prst="roundRect">
            <a:avLst/>
          </a:prstGeom>
          <a:solidFill>
            <a:srgbClr val="FDE68A"/>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1000" b="1">
                <a:solidFill>
                  <a:srgbClr val="1A1A1A"/>
                </a:solidFill>
              </a:defRPr>
            </a:pPr>
            <a:r>
              <a:t>guardrails.py</a:t>
            </a:r>
          </a:p>
          <a:p>
            <a:pPr algn="ctr">
              <a:defRPr sz="800" b="0">
                <a:solidFill>
                  <a:srgbClr val="1A1A1A"/>
                </a:solidFill>
              </a:defRPr>
            </a:pPr>
            <a:r>
              <a:t>output-side R1/R2</a:t>
            </a:r>
          </a:p>
          <a:p>
            <a:pPr algn="ctr">
              <a:defRPr sz="800" b="0">
                <a:solidFill>
                  <a:srgbClr val="1A1A1A"/>
                </a:solidFill>
              </a:defRPr>
            </a:pPr>
            <a:r>
              <a:t>enforcement</a:t>
            </a:r>
          </a:p>
        </p:txBody>
      </p:sp>
      <p:sp>
        <p:nvSpPr>
          <p:cNvPr id="7" name="Rounded Rectangle 6"/>
          <p:cNvSpPr/>
          <p:nvPr/>
        </p:nvSpPr>
        <p:spPr>
          <a:xfrm>
            <a:off x="8961120" y="2377440"/>
            <a:ext cx="1828800" cy="685800"/>
          </a:xfrm>
          <a:prstGeom prst="roundRect">
            <a:avLst/>
          </a:prstGeom>
          <a:solidFill>
            <a:srgbClr val="FDE68A"/>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1000" b="1">
                <a:solidFill>
                  <a:srgbClr val="1A1A1A"/>
                </a:solidFill>
              </a:defRPr>
            </a:pPr>
            <a:r>
              <a:t>scheduler.py</a:t>
            </a:r>
          </a:p>
          <a:p>
            <a:pPr algn="ctr">
              <a:defRPr sz="800" b="0">
                <a:solidFill>
                  <a:srgbClr val="1A1A1A"/>
                </a:solidFill>
              </a:defRPr>
            </a:pPr>
            <a:r>
              <a:t>APScheduler</a:t>
            </a:r>
          </a:p>
          <a:p>
            <a:pPr algn="ctr">
              <a:defRPr sz="800" b="0">
                <a:solidFill>
                  <a:srgbClr val="1A1A1A"/>
                </a:solidFill>
              </a:defRPr>
            </a:pPr>
            <a:r>
              <a:t>(in-process, daily digest job)</a:t>
            </a:r>
          </a:p>
        </p:txBody>
      </p:sp>
      <p:sp>
        <p:nvSpPr>
          <p:cNvPr id="8" name="Rounded Rectangle 7"/>
          <p:cNvSpPr/>
          <p:nvPr/>
        </p:nvSpPr>
        <p:spPr>
          <a:xfrm>
            <a:off x="320040" y="3977639"/>
            <a:ext cx="1965960" cy="777240"/>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900" b="1">
                <a:solidFill>
                  <a:srgbClr val="1A1A1A"/>
                </a:solidFill>
              </a:defRPr>
            </a:pPr>
            <a:r>
              <a:t>SQLite DB</a:t>
            </a:r>
          </a:p>
          <a:p>
            <a:pPr algn="ctr">
              <a:defRPr sz="700" b="0">
                <a:solidFill>
                  <a:srgbClr val="1A1A1A"/>
                </a:solidFill>
              </a:defRPr>
            </a:pPr>
            <a:r>
              <a:t>little_milestones.db</a:t>
            </a:r>
          </a:p>
          <a:p>
            <a:pPr algn="ctr">
              <a:defRPr sz="700" b="0">
                <a:solidFill>
                  <a:srgbClr val="1A1A1A"/>
                </a:solidFill>
              </a:defRPr>
            </a:pPr>
            <a:r>
              <a:t>(families/users/profiles/</a:t>
            </a:r>
          </a:p>
          <a:p>
            <a:pPr algn="ctr">
              <a:defRPr sz="700" b="0">
                <a:solidFill>
                  <a:srgbClr val="1A1A1A"/>
                </a:solidFill>
              </a:defRPr>
            </a:pPr>
            <a:r>
              <a:t>memories/photo_meta/sessions)</a:t>
            </a:r>
          </a:p>
        </p:txBody>
      </p:sp>
      <p:sp>
        <p:nvSpPr>
          <p:cNvPr id="9" name="Rounded Rectangle 8"/>
          <p:cNvSpPr/>
          <p:nvPr/>
        </p:nvSpPr>
        <p:spPr>
          <a:xfrm>
            <a:off x="2514600" y="3977639"/>
            <a:ext cx="1965960" cy="777240"/>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900" b="1">
                <a:solidFill>
                  <a:srgbClr val="1A1A1A"/>
                </a:solidFill>
              </a:defRPr>
            </a:pPr>
            <a:r>
              <a:t>Encrypted Photo Storage</a:t>
            </a:r>
          </a:p>
          <a:p>
            <a:pPr algn="ctr">
              <a:defRPr sz="700" b="0">
                <a:solidFill>
                  <a:srgbClr val="1A1A1A"/>
                </a:solidFill>
              </a:defRPr>
            </a:pPr>
            <a:r>
              <a:t>backend/data/photos/</a:t>
            </a:r>
          </a:p>
          <a:p>
            <a:pPr algn="ctr">
              <a:defRPr sz="700" b="0">
                <a:solidFill>
                  <a:srgbClr val="1A1A1A"/>
                </a:solidFill>
              </a:defRPr>
            </a:pPr>
            <a:r>
              <a:t>(Fernet-encrypted files)</a:t>
            </a:r>
          </a:p>
        </p:txBody>
      </p:sp>
      <p:sp>
        <p:nvSpPr>
          <p:cNvPr id="10" name="Rounded Rectangle 9"/>
          <p:cNvSpPr/>
          <p:nvPr/>
        </p:nvSpPr>
        <p:spPr>
          <a:xfrm>
            <a:off x="4709160" y="3977639"/>
            <a:ext cx="1965960" cy="777240"/>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900" b="1">
                <a:solidFill>
                  <a:srgbClr val="1A1A1A"/>
                </a:solidFill>
              </a:defRPr>
            </a:pPr>
            <a:r>
              <a:t>LLM Provider</a:t>
            </a:r>
          </a:p>
          <a:p>
            <a:pPr algn="ctr">
              <a:defRPr sz="700" b="0">
                <a:solidFill>
                  <a:srgbClr val="1A1A1A"/>
                </a:solidFill>
              </a:defRPr>
            </a:pPr>
            <a:r>
              <a:t>Anthropic / OpenAI</a:t>
            </a:r>
          </a:p>
          <a:p>
            <a:pPr algn="ctr">
              <a:defRPr sz="700" b="0">
                <a:solidFill>
                  <a:srgbClr val="1A1A1A"/>
                </a:solidFill>
              </a:defRPr>
            </a:pPr>
            <a:r>
              <a:t>(llm.py provider switch)</a:t>
            </a:r>
          </a:p>
        </p:txBody>
      </p:sp>
      <p:sp>
        <p:nvSpPr>
          <p:cNvPr id="11" name="Rounded Rectangle 10"/>
          <p:cNvSpPr/>
          <p:nvPr/>
        </p:nvSpPr>
        <p:spPr>
          <a:xfrm>
            <a:off x="6903720" y="3977639"/>
            <a:ext cx="1828800" cy="777240"/>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900" b="1">
                <a:solidFill>
                  <a:srgbClr val="1A1A1A"/>
                </a:solidFill>
              </a:defRPr>
            </a:pPr>
            <a:r>
              <a:t>Resend</a:t>
            </a:r>
          </a:p>
          <a:p>
            <a:pPr algn="ctr">
              <a:defRPr sz="700" b="0">
                <a:solidFill>
                  <a:srgbClr val="1A1A1A"/>
                </a:solidFill>
              </a:defRPr>
            </a:pPr>
            <a:r>
              <a:t>(transactional email API,</a:t>
            </a:r>
          </a:p>
          <a:p>
            <a:pPr algn="ctr">
              <a:defRPr sz="700" b="0">
                <a:solidFill>
                  <a:srgbClr val="1A1A1A"/>
                </a:solidFill>
              </a:defRPr>
            </a:pPr>
            <a:r>
              <a:t>weekly digest delivery)</a:t>
            </a:r>
          </a:p>
        </p:txBody>
      </p:sp>
      <p:sp>
        <p:nvSpPr>
          <p:cNvPr id="12" name="Rounded Rectangle 11"/>
          <p:cNvSpPr/>
          <p:nvPr/>
        </p:nvSpPr>
        <p:spPr>
          <a:xfrm>
            <a:off x="9006840" y="3977639"/>
            <a:ext cx="1828800" cy="777240"/>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900" b="1">
                <a:solidFill>
                  <a:srgbClr val="1A1A1A"/>
                </a:solidFill>
              </a:defRPr>
            </a:pPr>
            <a:r>
              <a:t>Google Photos API</a:t>
            </a:r>
          </a:p>
          <a:p>
            <a:pPr algn="ctr">
              <a:defRPr sz="700" b="0">
                <a:solidFill>
                  <a:srgbClr val="1A1A1A"/>
                </a:solidFill>
              </a:defRPr>
            </a:pPr>
            <a:r>
              <a:t>OAuth2 (authz-code+PKCE)</a:t>
            </a:r>
          </a:p>
          <a:p>
            <a:pPr algn="ctr">
              <a:defRPr sz="700" b="0">
                <a:solidFill>
                  <a:srgbClr val="1A1A1A"/>
                </a:solidFill>
              </a:defRPr>
            </a:pPr>
            <a:r>
              <a:t>+ Picker API</a:t>
            </a:r>
          </a:p>
        </p:txBody>
      </p:sp>
      <p:cxnSp>
        <p:nvCxnSpPr>
          <p:cNvPr id="13" name="Connector 12"/>
          <p:cNvCxnSpPr/>
          <p:nvPr/>
        </p:nvCxnSpPr>
        <p:spPr>
          <a:xfrm flipH="1">
            <a:off x="6080759" y="1783080"/>
            <a:ext cx="1" cy="548640"/>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5166359" y="1929384"/>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HTTPS/JSON</a:t>
            </a:r>
            <a:br/>
            <a:r>
              <a:t>(REST + streaming chat)</a:t>
            </a:r>
          </a:p>
        </p:txBody>
      </p:sp>
      <p:cxnSp>
        <p:nvCxnSpPr>
          <p:cNvPr id="15" name="Connector 14"/>
          <p:cNvCxnSpPr/>
          <p:nvPr/>
        </p:nvCxnSpPr>
        <p:spPr>
          <a:xfrm flipH="1">
            <a:off x="2148840" y="2720340"/>
            <a:ext cx="2057400" cy="0"/>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263140" y="2592324"/>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output text</a:t>
            </a:r>
            <a:br/>
            <a:r>
              <a:t>(framing/medical check)</a:t>
            </a:r>
          </a:p>
        </p:txBody>
      </p:sp>
      <p:cxnSp>
        <p:nvCxnSpPr>
          <p:cNvPr id="17" name="Connector 16"/>
          <p:cNvCxnSpPr/>
          <p:nvPr/>
        </p:nvCxnSpPr>
        <p:spPr>
          <a:xfrm flipH="1">
            <a:off x="7955279" y="2720340"/>
            <a:ext cx="1005841" cy="0"/>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543799" y="2592324"/>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digest trigger</a:t>
            </a:r>
            <a:br/>
            <a:r>
              <a:t>(daily job)</a:t>
            </a:r>
          </a:p>
        </p:txBody>
      </p:sp>
      <p:cxnSp>
        <p:nvCxnSpPr>
          <p:cNvPr id="19" name="Connector 18"/>
          <p:cNvCxnSpPr/>
          <p:nvPr/>
        </p:nvCxnSpPr>
        <p:spPr>
          <a:xfrm flipH="1">
            <a:off x="1303020" y="3108960"/>
            <a:ext cx="4777739" cy="868679"/>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77489" y="3415283"/>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SQL (Store</a:t>
            </a:r>
            <a:br/>
            <a:r>
              <a:t>interfaces)</a:t>
            </a:r>
          </a:p>
        </p:txBody>
      </p:sp>
      <p:cxnSp>
        <p:nvCxnSpPr>
          <p:cNvPr id="21" name="Connector 20"/>
          <p:cNvCxnSpPr/>
          <p:nvPr/>
        </p:nvCxnSpPr>
        <p:spPr>
          <a:xfrm flipH="1">
            <a:off x="3497580" y="3108960"/>
            <a:ext cx="2583179" cy="868679"/>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874769" y="3415283"/>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encrypted photo</a:t>
            </a:r>
            <a:br/>
            <a:r>
              <a:t>bytes (Fernet)</a:t>
            </a:r>
          </a:p>
        </p:txBody>
      </p:sp>
      <p:cxnSp>
        <p:nvCxnSpPr>
          <p:cNvPr id="23" name="Connector 22"/>
          <p:cNvCxnSpPr/>
          <p:nvPr/>
        </p:nvCxnSpPr>
        <p:spPr>
          <a:xfrm flipH="1">
            <a:off x="5692140" y="3108960"/>
            <a:ext cx="388619" cy="868679"/>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972049" y="3415283"/>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LLM API call</a:t>
            </a:r>
            <a:br/>
            <a:r>
              <a:t>(guarded system prompt)</a:t>
            </a:r>
          </a:p>
        </p:txBody>
      </p:sp>
      <p:cxnSp>
        <p:nvCxnSpPr>
          <p:cNvPr id="25" name="Connector 24"/>
          <p:cNvCxnSpPr/>
          <p:nvPr/>
        </p:nvCxnSpPr>
        <p:spPr>
          <a:xfrm flipH="1">
            <a:off x="7818120" y="3063240"/>
            <a:ext cx="2057400" cy="914399"/>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932420" y="3392423"/>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email API</a:t>
            </a:r>
            <a:br/>
            <a:r>
              <a:t>(digest send)</a:t>
            </a:r>
          </a:p>
        </p:txBody>
      </p:sp>
      <p:cxnSp>
        <p:nvCxnSpPr>
          <p:cNvPr id="27" name="Connector 26"/>
          <p:cNvCxnSpPr/>
          <p:nvPr/>
        </p:nvCxnSpPr>
        <p:spPr>
          <a:xfrm>
            <a:off x="7955279" y="2720340"/>
            <a:ext cx="1965961" cy="1257299"/>
          </a:xfrm>
          <a:prstGeom prst="line">
            <a:avLst/>
          </a:prstGeom>
          <a:ln w="15875">
            <a:solidFill>
              <a:srgbClr val="33333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023859" y="3220973"/>
            <a:ext cx="1828800" cy="256032"/>
          </a:xfrm>
          <a:prstGeom prst="rect">
            <a:avLst/>
          </a:prstGeom>
          <a:solidFill>
            <a:srgbClr val="FFFFFF"/>
          </a:solidFill>
          <a:ln>
            <a:noFill/>
          </a:ln>
        </p:spPr>
        <p:txBody>
          <a:bodyPr wrap="square" lIns="0" rIns="0" tIns="0" bIns="0">
            <a:spAutoFit/>
          </a:bodyPr>
          <a:lstStyle/>
          <a:p>
            <a:pPr algn="ctr">
              <a:defRPr sz="800">
                <a:solidFill>
                  <a:srgbClr val="004080"/>
                </a:solidFill>
              </a:defRPr>
            </a:pPr>
            <a:r>
              <a:t>OAuth2 + Picker</a:t>
            </a:r>
            <a:br/>
            <a:r>
              <a:t>session (F17)</a:t>
            </a:r>
          </a:p>
        </p:txBody>
      </p:sp>
      <p:sp>
        <p:nvSpPr>
          <p:cNvPr id="29" name="Rounded Rectangle 28"/>
          <p:cNvSpPr/>
          <p:nvPr/>
        </p:nvSpPr>
        <p:spPr>
          <a:xfrm>
            <a:off x="320040" y="5074920"/>
            <a:ext cx="320040" cy="256032"/>
          </a:xfrm>
          <a:prstGeom prst="roundRect">
            <a:avLst/>
          </a:prstGeom>
          <a:solidFill>
            <a:srgbClr val="BFDBFE"/>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800" b="1">
                <a:solidFill>
                  <a:srgbClr val="1A1A1A"/>
                </a:solidFill>
              </a:defRPr>
            </a:pPr>
          </a:p>
        </p:txBody>
      </p:sp>
      <p:sp>
        <p:nvSpPr>
          <p:cNvPr id="30" name="TextBox 29"/>
          <p:cNvSpPr txBox="1"/>
          <p:nvPr/>
        </p:nvSpPr>
        <p:spPr>
          <a:xfrm>
            <a:off x="685800" y="5056632"/>
            <a:ext cx="2286000" cy="274320"/>
          </a:xfrm>
          <a:prstGeom prst="rect">
            <a:avLst/>
          </a:prstGeom>
          <a:noFill/>
        </p:spPr>
        <p:txBody>
          <a:bodyPr wrap="none">
            <a:spAutoFit/>
          </a:bodyPr>
          <a:lstStyle/>
          <a:p>
            <a:pPr>
              <a:defRPr sz="1000"/>
            </a:pPr>
            <a:r>
              <a:t>Client layer</a:t>
            </a:r>
          </a:p>
        </p:txBody>
      </p:sp>
      <p:sp>
        <p:nvSpPr>
          <p:cNvPr id="31" name="Rounded Rectangle 30"/>
          <p:cNvSpPr/>
          <p:nvPr/>
        </p:nvSpPr>
        <p:spPr>
          <a:xfrm>
            <a:off x="2194560" y="5074920"/>
            <a:ext cx="320040" cy="256032"/>
          </a:xfrm>
          <a:prstGeom prst="roundRect">
            <a:avLst/>
          </a:prstGeom>
          <a:solidFill>
            <a:srgbClr val="FDE68A"/>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800" b="1">
                <a:solidFill>
                  <a:srgbClr val="1A1A1A"/>
                </a:solidFill>
              </a:defRPr>
            </a:pPr>
          </a:p>
        </p:txBody>
      </p:sp>
      <p:sp>
        <p:nvSpPr>
          <p:cNvPr id="32" name="TextBox 31"/>
          <p:cNvSpPr txBox="1"/>
          <p:nvPr/>
        </p:nvSpPr>
        <p:spPr>
          <a:xfrm>
            <a:off x="2560320" y="5056632"/>
            <a:ext cx="2286000" cy="274320"/>
          </a:xfrm>
          <a:prstGeom prst="rect">
            <a:avLst/>
          </a:prstGeom>
          <a:noFill/>
        </p:spPr>
        <p:txBody>
          <a:bodyPr wrap="none">
            <a:spAutoFit/>
          </a:bodyPr>
          <a:lstStyle/>
          <a:p>
            <a:pPr>
              <a:defRPr sz="1000"/>
            </a:pPr>
            <a:r>
              <a:t>API / backend layer</a:t>
            </a:r>
          </a:p>
        </p:txBody>
      </p:sp>
      <p:sp>
        <p:nvSpPr>
          <p:cNvPr id="33" name="Rounded Rectangle 32"/>
          <p:cNvSpPr/>
          <p:nvPr/>
        </p:nvSpPr>
        <p:spPr>
          <a:xfrm>
            <a:off x="4480560" y="5074920"/>
            <a:ext cx="320040" cy="256032"/>
          </a:xfrm>
          <a:prstGeom prst="roundRect">
            <a:avLst/>
          </a:prstGeom>
          <a:solidFill>
            <a:srgbClr val="C8E6C9"/>
          </a:solidFill>
          <a:ln w="12700">
            <a:solidFill>
              <a:srgbClr val="404040"/>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25400" bIns="25400"/>
          <a:lstStyle/>
          <a:p>
            <a:pPr algn="ctr">
              <a:defRPr sz="800" b="1">
                <a:solidFill>
                  <a:srgbClr val="1A1A1A"/>
                </a:solidFill>
              </a:defRPr>
            </a:pPr>
          </a:p>
        </p:txBody>
      </p:sp>
      <p:sp>
        <p:nvSpPr>
          <p:cNvPr id="34" name="TextBox 33"/>
          <p:cNvSpPr txBox="1"/>
          <p:nvPr/>
        </p:nvSpPr>
        <p:spPr>
          <a:xfrm>
            <a:off x="4846320" y="5056632"/>
            <a:ext cx="3200400" cy="274320"/>
          </a:xfrm>
          <a:prstGeom prst="rect">
            <a:avLst/>
          </a:prstGeom>
          <a:noFill/>
        </p:spPr>
        <p:txBody>
          <a:bodyPr wrap="none">
            <a:spAutoFit/>
          </a:bodyPr>
          <a:lstStyle/>
          <a:p>
            <a:pPr>
              <a:defRPr sz="1000"/>
            </a:pPr>
            <a:r>
              <a:t>Data &amp; external services layer</a:t>
            </a:r>
          </a:p>
        </p:txBody>
      </p:sp>
      <p:sp>
        <p:nvSpPr>
          <p:cNvPr id="35" name="TextBox 34"/>
          <p:cNvSpPr txBox="1"/>
          <p:nvPr/>
        </p:nvSpPr>
        <p:spPr>
          <a:xfrm>
            <a:off x="320040" y="5486400"/>
            <a:ext cx="11551615" cy="1097280"/>
          </a:xfrm>
          <a:prstGeom prst="rect">
            <a:avLst/>
          </a:prstGeom>
          <a:noFill/>
        </p:spPr>
        <p:txBody>
          <a:bodyPr wrap="square">
            <a:spAutoFit/>
          </a:bodyPr>
          <a:lstStyle/>
          <a:p>
            <a:pPr>
              <a:defRPr sz="900" i="1">
                <a:solidFill>
                  <a:srgbClr val="555555"/>
                </a:solidFill>
              </a:defRPr>
            </a:pPr>
            <a:r>
              <a:t>Notes: no static file mount ever serves backend/data/ (photos are private-by-default, streamed through the family-scoped API route). photos.py has no import path into llm.py/prompts.py — photo bytes never enter the LLM prompt (structural isolation, §4.3/§7). Auth seam (get_current_family) sits inside the FastAPI backend from Increment 1; Increment 3 swaps its body for real session auth without changing route signatures.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