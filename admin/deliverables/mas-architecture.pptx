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AICluadeCode — Multi-Agent SDLC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A5568"/>
                </a:solidFill>
              </a:defRPr>
            </a:pPr>
            <a:r>
              <a:t>Platform Architecture — Solution Overview</a:t>
            </a:r>
          </a:p>
          <a:p>
            <a:pPr>
              <a:defRPr sz="1400">
                <a:solidFill>
                  <a:srgbClr val="4A5568"/>
                </a:solidFill>
              </a:defRPr>
            </a:pPr>
            <a:r>
              <a:t>Source: admin/MAS_REGISTRY.md, admin/ROADMAP.md, CLAUDE.md, admin/ORCHESTRATOR.md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Generated by deliverables-agent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MAS System Architecture — Orchestrator, Two Axes, Gated Pipeline, Agent Roster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20640" y="685800"/>
            <a:ext cx="1920240" cy="4572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Human (single point of contact)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371600"/>
            <a:ext cx="2743200" cy="64008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(main conversation — not a registered agent)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143000"/>
            <a:ext cx="0" cy="22860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331720"/>
            <a:ext cx="4206240" cy="502920"/>
          </a:xfrm>
          <a:prstGeom prst="roundRect">
            <a:avLst/>
          </a:prstGeom>
          <a:solidFill>
            <a:srgbClr val="2A8E84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Project Development axis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/new-project /enhance-project /modify-feature /consult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331720"/>
            <a:ext cx="4206240" cy="502920"/>
          </a:xfrm>
          <a:prstGeom prst="roundRect">
            <a:avLst/>
          </a:prstGeom>
          <a:solidFill>
            <a:srgbClr val="D98E2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Platform Governance axis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/admin-panel (propose-agent, add-agent, roadmap, release)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017520" y="1709928"/>
            <a:ext cx="2377440" cy="621792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66560" y="1709928"/>
            <a:ext cx="2377440" cy="621792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" y="3200400"/>
            <a:ext cx="1143000" cy="59436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2" y="3200400"/>
            <a:ext cx="1143000" cy="59436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Team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Composition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3784" y="3200400"/>
            <a:ext cx="1143000" cy="59436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Plan &amp;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Backlog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9936" y="3200400"/>
            <a:ext cx="1143000" cy="59436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Experience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6088" y="3200400"/>
            <a:ext cx="1143000" cy="59436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200400"/>
            <a:ext cx="1143000" cy="59436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3200400"/>
            <a:ext cx="1143000" cy="59436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3200400"/>
            <a:ext cx="1143000" cy="59436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40696" y="3200400"/>
            <a:ext cx="1143000" cy="59436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Deploy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17520" y="2834640"/>
            <a:ext cx="0" cy="36576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91056" y="3497580"/>
            <a:ext cx="73152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07208" y="3497580"/>
            <a:ext cx="73152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23360" y="3497580"/>
            <a:ext cx="73152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39512" y="3497580"/>
            <a:ext cx="73152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55664" y="3497580"/>
            <a:ext cx="73152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71816" y="3497580"/>
            <a:ext cx="73152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87968" y="3497580"/>
            <a:ext cx="73152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04120" y="3497580"/>
            <a:ext cx="73152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778240" y="3200400"/>
            <a:ext cx="2926080" cy="594360"/>
          </a:xfrm>
          <a:prstGeom prst="roundRect">
            <a:avLst/>
          </a:prstGeom>
          <a:solidFill>
            <a:srgbClr val="D98E2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mas-architect / mas-registrar /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mas-release-manager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0" y="2834640"/>
            <a:ext cx="1097280" cy="36576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8E84"/>
                </a:solidFill>
              </a:defRPr>
            </a:pPr>
            <a:r>
              <a:t>Core Pipeline Agents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343400"/>
            <a:ext cx="3566160" cy="822960"/>
          </a:xfrm>
          <a:prstGeom prst="roundRect">
            <a:avLst/>
          </a:prstGeom>
          <a:solidFill>
            <a:srgbClr val="2A8E84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plan-agent, code-agent, test-agent,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review-agent, deploy-agent,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ui-ux-designer (UI-bearing templates)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8E2A"/>
                </a:solidFill>
              </a:defRPr>
            </a:pPr>
            <a:r>
              <a:t>Optional SME Agents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343400"/>
            <a:ext cx="3566160" cy="822960"/>
          </a:xfrm>
          <a:prstGeom prst="roundRect">
            <a:avLst/>
          </a:prstGeom>
          <a:solidFill>
            <a:srgbClr val="D98E2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functional-agent, industry-expert,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solution-architect, security-architect,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responsible-ai-architect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5568"/>
                </a:solidFill>
              </a:defRPr>
            </a:pPr>
            <a:r>
              <a:t>Cross-Cutting / Infra Agents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4343400"/>
            <a:ext cx="3657600" cy="82296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enhance-agent, release-manager,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usage-monitor, deliverables-agent,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synthetic-data-agent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48840" y="4023360"/>
            <a:ext cx="0" cy="3200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89320" y="4023360"/>
            <a:ext cx="0" cy="3200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875520" y="4023360"/>
            <a:ext cx="0" cy="32004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2148840" y="3794760"/>
            <a:ext cx="868680" cy="27432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989320" y="3794760"/>
            <a:ext cx="91440" cy="27432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576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Directory State Isolation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623560"/>
            <a:ext cx="2468880" cy="82296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admin/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(roadmap, registry, changelog,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ORCHESTRATOR.md, LESSONS.md)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7520" y="5623560"/>
            <a:ext cx="2468880" cy="822960"/>
          </a:xfrm>
          <a:prstGeom prst="roundRect">
            <a:avLst/>
          </a:prstGeom>
          <a:solidFill>
            <a:srgbClr val="2A8E84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projects/&lt;name&gt;/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(PROJECT_CONTEXT, FEATURES,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knowledge/*_KB.md, dev/ + prod/)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0" y="5623560"/>
            <a:ext cx="2468880" cy="822960"/>
          </a:xfrm>
          <a:prstGeom prst="roundRect">
            <a:avLst/>
          </a:prstGeom>
          <a:solidFill>
            <a:srgbClr val="D98E2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templates/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(genai-chatbot,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agentic-workflow,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rag-knowledge-base)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5623560"/>
            <a:ext cx="2468880" cy="82296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memory/INDEX.md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(one row per project,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pointer only)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251960" y="2834640"/>
            <a:ext cx="0" cy="278892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429000" y="4091939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A5568"/>
                </a:solidFill>
              </a:defRPr>
            </a:pPr>
            <a:r>
              <a:t>governs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251960" y="6035040"/>
            <a:ext cx="141732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137660" y="5897879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A5568"/>
                </a:solidFill>
              </a:defRPr>
            </a:pPr>
            <a:r>
              <a:t>scaffolds from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1600200" y="5623560"/>
            <a:ext cx="2651760" cy="41148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103120" y="56921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A5568"/>
                </a:solidFill>
              </a:defRPr>
            </a:pPr>
            <a:r>
              <a:t>governs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5486400" y="6035040"/>
            <a:ext cx="2834640" cy="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080759" y="5897879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A5568"/>
                </a:solidFill>
              </a:defRPr>
            </a:pPr>
            <a:r>
              <a:t>indexed by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568"/>
                </a:solidFill>
              </a:defRPr>
            </a:pPr>
            <a:r>
              <a:t>Two axes never cross: platform governance (/admin-panel) never touches projects/; project commands never touch admin/.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</a:defRPr>
            </a:pPr>
            <a:r>
              <a:t>Gated Pipeline — 9 Stages (project development axis)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052560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Who acts / what happens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1. Intake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functional-agent's domain question and industry-expert's industry question — asked unconditionally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2. Team Composition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Human decides optional SME roster (functional-agent, industry-expert, solution-architect, security-architect, responsible-ai-architect, synthetic-data-agent) plus ui-ux-designer applicability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3. Plan &amp; Backlog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plan-agent drafts PLAN.md + backlog/MVP; functional-agent (devil's advocate) + industry-expert (trend backlog) if engaged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4. Experience Design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ui-ux-designer — own gate, UI-bearing templates only, between Plan &amp; Backlog and Architecture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5.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solution-architect + security-architect (joint owners); functional-agent, industry-expert, responsible-ai-architect advisory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6. Code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code-agent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7.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test-agent owns core suite; every engaged SME owns its own suite (multi-suite, blocking-by-default with advisory override policy)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8. Review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review-agent — code style/diff hygiene/decision-intent/cross-cutting consistency only; responsible-ai-architect + industry-expert advisory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9.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deploy-agent; industry-expert advisory stakeholder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</a:defRPr>
            </a:pPr>
            <a:r>
              <a:t>Core Pipeline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52144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2377440"/>
                <a:gridCol w="1828800"/>
                <a:gridCol w="1828800"/>
                <a:gridCol w="457200"/>
              </a:tblGrid>
              <a:tr h="43629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Gate(s)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Core/Optional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629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plan-agent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Plan &amp; Backlog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code-agent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3629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test-agent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Unit/integration + post-deploy smoke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review-agent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3629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deploy-agent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 (hands smoke test to test-agent)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3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ui-ux-designer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Experience Design (own gate, UI-bearing templates)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 for genai-chatbot/rag-knowledge-base; N/A for agentic-workflow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knowledge/UX_KB.md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UX/usability + accessibility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</a:defRPr>
            </a:pPr>
            <a:r>
              <a:t>Optional SME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521440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2377440"/>
                <a:gridCol w="1828800"/>
                <a:gridCol w="1828800"/>
                <a:gridCol w="457200"/>
              </a:tblGrid>
              <a:tr h="4450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Gate(s)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Core/Optional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functional-agent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Intake + Plan &amp; Backlog + Architecture (advisory)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Optional / droppable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knowledge/DOMAIN_KB.md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Functional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industry-expert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Intake + Plan &amp; Backlog + Architecture + Review + Deploy (advisory)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Optional / droppable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knowledge/INDUSTRY_KB.md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Industry/compliance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solution-architect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Architecture (joint owner)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Optional / droppable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knowledge/ARCHITECTURE_KB.md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security-architect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Architecture (joint owner)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Optional / droppable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knowledge/SECURITY_KB.md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responsible-ai-architect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Architecture (advisory) +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Optional / droppable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knowledge/RESPONSIBLE_AI_KB.md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Red-team/bias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</a:defRPr>
            </a:pPr>
            <a:r>
              <a:t>Cross-Cutting / Infra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521440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2377440"/>
                <a:gridCol w="1828800"/>
                <a:gridCol w="1828800"/>
                <a:gridCol w="457200"/>
              </a:tblGrid>
              <a:tr h="4450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Gate(s)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Core/Optional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enhance-agent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Cross-cutting — /enhance-project + /modify-feature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 (infra)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 (writes FEATURES.md)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release-manager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Cross-cutting — /cut-release, after Deploy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 (infra)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 (writes RELEASES.md/CHANGELOG.md)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usage-monitor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Cross-cutting — observes all 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 (infra)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 (writes USAGE.md/USAGE_INDEX.md)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deliverables-agent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Cross-cutting — on-demand export, never blocking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 (reads others' KBs)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synthetic-data-agent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Cross-cutting — just before Test gate / on-demand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Optional / droppable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knowledge/TEST_DATA_KB.md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None (test-agent retains ownership)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</a:defRPr>
            </a:pPr>
            <a:r>
              <a:t>Admin / Platform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52144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1645920"/>
                <a:gridCol w="2560320"/>
                <a:gridCol w="1828800"/>
                <a:gridCol w="457200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Gate(s)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Core/Optional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Tools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mas-architect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Platform-level, advisory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 (platform)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Read, Grep, Glob, WebSearch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Never writes files; recommendation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mas-registrar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/admin-panel add-agent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 (platform)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Read, Write, Edit, Glob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Only agent that writes to MAS_REGISTRY.md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mas-release-manager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/admin-panel roadmap/release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Core (platform)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Read, Write, 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Distinct from project-level release-manager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</a:defRPr>
            </a:pPr>
            <a:r>
              <a:t>Directory Structure — Key Relationships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143000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052560"/>
              </a:tblGrid>
              <a:tr h="43629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629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admin/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Platform roadmap, changelog, agent registry, staged proposals, ORCHESTRATOR.md, LESSONS.md — governed only via /admin-panel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.claude/agents/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All subagent definitions — mas-* = admin/platform agents, everything else = project-pipeline agents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3629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.claude/skills/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Entry-point commands (/new-project, /enhance-project, /modify-feature, /consult, /admin-panel, /cut-release, /help)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templates/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Starter scaffolds for /new-project: genai-chatbot, agentic-workflow, rag-knowledge-base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3629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memory/INDEX.md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One row per project — pointer to its own PROJECT_CONTEXT.md, not a duplicate of project detail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3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projects/&lt;name&gt;/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4A"/>
                          </a:solidFill>
                        </a:defRPr>
                      </a:pPr>
                      <a:r>
                        <a:t>PROJECT_CONTEXT.md, FEATURES.md, RELEASES.md, USAGE.md, knowledge/*_KB.md, independent dev/ and prod/ git repos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